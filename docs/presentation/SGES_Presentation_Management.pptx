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984fd844-e2f6-0d4c-002e-945d5cbcf8e5}">
          <p14:sldIdLst>
            <p14:sldId id="256"/>
            <p14:sldId id="257"/>
          </p14:sldIdLst>
        </p14:section>
        <p14:section name="Enjeux" id="{6adef724-e0ee-596f-432a-8f5d98d973d9}">
          <p14:sldIdLst>
            <p14:sldId id="258"/>
          </p14:sldIdLst>
        </p14:section>
        <p14:section name="L'outil" id="{1edfa864-818c-8daf-1c7c-c97da56cb412}">
          <p14:sldIdLst>
            <p14:sldId id="259"/>
            <p14:sldId id="260"/>
          </p14:sldIdLst>
        </p14:section>
        <p14:section name="Pilotage" id="{d25cff36-180e-681e-dbc0-d44027c1fb15}">
          <p14:sldIdLst>
            <p14:sldId id="261"/>
            <p14:sldId id="262"/>
            <p14:sldId id="263"/>
            <p14:sldId id="264"/>
          </p14:sldIdLst>
        </p14:section>
        <p14:section name="Fiabilité et suite" id="{d172d8ed-f1cc-4767-6ac6-5daf44896569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de 15 minutes, suivie d'une démonstration de 10 minutes si le temps le permet.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principal : la banque dispose d'un outil unique, traçable et paramétrable pour évaluer, décider et suivre le risque environnemental, social et climatique de chaque crédit d'investissement.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raisons : la conformité réglementaire, la maîtrise du risque de crédit et les exigences des bailleurs de fonds.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circuit suit la procédure : le chargé évalue, le directeur valide, le comité décide, le chargé suit et le directeur clôture. Chaque passage est horodaté et tracé.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dispositif de contrôle est intégré à l'outil : il ne repose pas sur la discipline des utilisateurs.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tableau de bord s'adapte au rôle : la direction voit l'ensemble de son périmètre.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d'attention : la méthode de score climat est indicative et non calibrée ; elle doit être validée par la Fonction Risques avant tout usage prudentiel.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L'IA prépare, l'utilisateur décide : chaque proposition est relue et validée avant d'être enregistrée.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captures de cette présentation montrent d'ailleurs l'outil habillé aux couleurs du groupe par simple paramétrage.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Recette d'octobre 2026 sur une base de démonstration : tests automatisés, parcours de tous les écrans par rôle et par langue, dossier complet de la création à la clôture.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Proposition de feuille de route ; les durées sont indicatives et à confirmer avec les métiers.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image" Target="../media/image-1002-4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NTERCALAIRE-image-3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pdfbcp/assets/fo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17320"/>
            <a:ext cx="12191695" cy="5440680"/>
          </a:xfrm>
          <a:prstGeom prst="rect">
            <a:avLst/>
          </a:prstGeom>
        </p:spPr>
      </p:pic>
      <p:pic>
        <p:nvPicPr>
          <p:cNvPr id="3" name="Image 1" descr="/tmp/claude-0/pdfbcp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64592"/>
            <a:ext cx="2039112" cy="1060704"/>
          </a:xfrm>
          <a:prstGeom prst="rect">
            <a:avLst/>
          </a:prstGeom>
        </p:spPr>
      </p:pic>
      <p:pic>
        <p:nvPicPr>
          <p:cNvPr id="4" name="Image 2" descr="/tmp/claude-0/pdfbcp/assets/moti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1691640"/>
            <a:ext cx="1828800" cy="2706624"/>
          </a:xfrm>
          <a:prstGeom prst="rect">
            <a:avLst/>
          </a:prstGeom>
        </p:spPr>
      </p:pic>
      <p:pic>
        <p:nvPicPr>
          <p:cNvPr id="5" name="Image 3" descr="/tmp/claude-0/pdfbcp/assets/motif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4526280"/>
            <a:ext cx="1828800" cy="210312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4" type="title" hasCustomPrompt="1"/>
          </p:nvPr>
        </p:nvSpPr>
        <p:spPr>
          <a:xfrm>
            <a:off x="731520" y="2240280"/>
            <a:ext cx="78638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731520" y="443484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pdfbcp/assets/logo_bla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371600" cy="713232"/>
          </a:xfrm>
          <a:prstGeom prst="rect">
            <a:avLst/>
          </a:prstGeom>
        </p:spPr>
      </p:pic>
      <p:pic>
        <p:nvPicPr>
          <p:cNvPr id="3" name="Image 1" descr="/tmp/claude-0/pdfbcp/assets/moti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502920"/>
            <a:ext cx="1920240" cy="28346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731520" y="3200400"/>
            <a:ext cx="8595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731520" y="4617720"/>
            <a:ext cx="8595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pdfbcp/assets/bande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11365992" cy="713232"/>
          </a:xfrm>
          <a:prstGeom prst="rect">
            <a:avLst/>
          </a:prstGeom>
        </p:spPr>
      </p:pic>
      <p:pic>
        <p:nvPicPr>
          <p:cNvPr id="3" name="Image 1" descr="/tmp/claude-0/pdfbcp/assets/logo_bla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329184"/>
            <a:ext cx="914400" cy="47548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5" name="Text 0"/>
          <p:cNvSpPr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SGES — Système de gestion environnementale, sociale et climatique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731520" y="224028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SGES</a:t>
            </a:r>
            <a:endParaRPr lang="en-US" sz="4000" dirty="0"/>
          </a:p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AU MANAGEMENT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5" type="body" hasCustomPrompt="1"/>
          </p:nvPr>
        </p:nvSpPr>
        <p:spPr>
          <a:xfrm>
            <a:off x="731520" y="44348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de gestion environnementale, sociale et climatique des crédits d'investissement — octobre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11320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62016"/>
                </a:solidFill>
              </a:rPr>
              <a:t>Chaque crédit d'investissement est évalué, décidé et suivi selon une même méthode, traçable et paramétrable.</a:t>
            </a:r>
            <a:endParaRPr lang="en-US" sz="2200" dirty="0"/>
          </a:p>
        </p:txBody>
      </p:sp>
      <p:sp>
        <p:nvSpPr>
          <p:cNvPr id="5" name="chiffre-0"/>
          <p:cNvSpPr/>
          <p:nvPr/>
        </p:nvSpPr>
        <p:spPr>
          <a:xfrm>
            <a:off x="457200" y="2194560"/>
            <a:ext cx="2670048" cy="3017520"/>
          </a:xfrm>
          <a:prstGeom prst="roundRect">
            <a:avLst>
              <a:gd name="adj" fmla="val 3425"/>
            </a:avLst>
          </a:prstGeom>
          <a:solidFill>
            <a:srgbClr val="F2E8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23774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37B05"/>
                </a:solidFill>
              </a:rPr>
              <a:t>10</a:t>
            </a:r>
            <a:endParaRPr lang="en-US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2016"/>
                </a:solidFill>
              </a:rPr>
              <a:t>ÉTAPES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0233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du circuit outillées de bout en bout, de l'identification à la clôture</a:t>
            </a:r>
            <a:endParaRPr lang="en-US" sz="1400" dirty="0"/>
          </a:p>
        </p:txBody>
      </p:sp>
      <p:sp>
        <p:nvSpPr>
          <p:cNvPr id="9" name="chiffre-1"/>
          <p:cNvSpPr/>
          <p:nvPr/>
        </p:nvSpPr>
        <p:spPr>
          <a:xfrm>
            <a:off x="3319272" y="2194560"/>
            <a:ext cx="2670048" cy="3017520"/>
          </a:xfrm>
          <a:prstGeom prst="roundRect">
            <a:avLst>
              <a:gd name="adj" fmla="val 3425"/>
            </a:avLst>
          </a:prstGeom>
          <a:solidFill>
            <a:srgbClr val="FBF6F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547872" y="23774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37B05"/>
                </a:solidFill>
              </a:rPr>
              <a:t>7</a:t>
            </a:r>
            <a:endParaRPr lang="en-US" sz="6600" dirty="0"/>
          </a:p>
        </p:txBody>
      </p:sp>
      <p:sp>
        <p:nvSpPr>
          <p:cNvPr id="11" name="Text 8"/>
          <p:cNvSpPr txBox="1"/>
          <p:nvPr/>
        </p:nvSpPr>
        <p:spPr>
          <a:xfrm>
            <a:off x="3547872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2016"/>
                </a:solidFill>
              </a:rPr>
              <a:t>RÔLES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547872" y="40233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avec séparation des fonctions, périmètre par entité et journal d'audit</a:t>
            </a:r>
            <a:endParaRPr lang="en-US" sz="1400" dirty="0"/>
          </a:p>
        </p:txBody>
      </p:sp>
      <p:sp>
        <p:nvSpPr>
          <p:cNvPr id="13" name="chiffre-2"/>
          <p:cNvSpPr/>
          <p:nvPr/>
        </p:nvSpPr>
        <p:spPr>
          <a:xfrm>
            <a:off x="6181344" y="2194560"/>
            <a:ext cx="2670048" cy="3017520"/>
          </a:xfrm>
          <a:prstGeom prst="roundRect">
            <a:avLst>
              <a:gd name="adj" fmla="val 3425"/>
            </a:avLst>
          </a:prstGeom>
          <a:solidFill>
            <a:srgbClr val="F2E8D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9944" y="23774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37B05"/>
                </a:solidFill>
              </a:rPr>
              <a:t>3</a:t>
            </a:r>
            <a:endParaRPr lang="en-US" sz="6600" dirty="0"/>
          </a:p>
        </p:txBody>
      </p:sp>
      <p:sp>
        <p:nvSpPr>
          <p:cNvPr id="15" name="Text 12"/>
          <p:cNvSpPr txBox="1"/>
          <p:nvPr/>
        </p:nvSpPr>
        <p:spPr>
          <a:xfrm>
            <a:off x="6409944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2016"/>
                </a:solidFill>
              </a:rPr>
              <a:t>LANGUES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409944" y="40233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français, anglais, arabe ; banques régionales et filiales Afrique</a:t>
            </a:r>
            <a:endParaRPr lang="en-US" sz="1400" dirty="0"/>
          </a:p>
        </p:txBody>
      </p:sp>
      <p:sp>
        <p:nvSpPr>
          <p:cNvPr id="17" name="chiffre-3"/>
          <p:cNvSpPr/>
          <p:nvPr/>
        </p:nvSpPr>
        <p:spPr>
          <a:xfrm>
            <a:off x="9043416" y="2194560"/>
            <a:ext cx="2670048" cy="3017520"/>
          </a:xfrm>
          <a:prstGeom prst="roundRect">
            <a:avLst>
              <a:gd name="adj" fmla="val 3425"/>
            </a:avLst>
          </a:prstGeom>
          <a:solidFill>
            <a:srgbClr val="FBF6F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272016" y="23774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37B05"/>
                </a:solidFill>
              </a:rPr>
              <a:t>1</a:t>
            </a:r>
            <a:endParaRPr lang="en-US" sz="6600" dirty="0"/>
          </a:p>
        </p:txBody>
      </p:sp>
      <p:sp>
        <p:nvSpPr>
          <p:cNvPr id="19" name="Text 16"/>
          <p:cNvSpPr txBox="1"/>
          <p:nvPr/>
        </p:nvSpPr>
        <p:spPr>
          <a:xfrm>
            <a:off x="9272016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2016"/>
                </a:solidFill>
              </a:rPr>
              <a:t>FICHE E&amp;S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272016" y="40233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standardisée pour le comité, transmise à la plateforme d'octroi par API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CET OUTIL</a:t>
            </a:r>
            <a:endParaRPr lang="en-US" sz="2400" dirty="0"/>
          </a:p>
        </p:txBody>
      </p:sp>
      <p:sp>
        <p:nvSpPr>
          <p:cNvPr id="4" name="pourquoi-0"/>
          <p:cNvSpPr/>
          <p:nvPr/>
        </p:nvSpPr>
        <p:spPr>
          <a:xfrm>
            <a:off x="457200" y="1280160"/>
            <a:ext cx="3639312" cy="4206240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2700">
            <a:solidFill>
              <a:srgbClr val="E5D9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rond-icone"/>
          <p:cNvSpPr/>
          <p:nvPr/>
        </p:nvSpPr>
        <p:spPr>
          <a:xfrm>
            <a:off x="731520" y="1554480"/>
            <a:ext cx="822960" cy="822960"/>
          </a:xfrm>
          <a:prstGeom prst="ellipse">
            <a:avLst/>
          </a:prstGeom>
          <a:solidFill>
            <a:srgbClr val="E37B05"/>
          </a:solidFill>
          <a:ln/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19072"/>
            <a:ext cx="493776" cy="4937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2560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62016"/>
                </a:solidFill>
              </a:rPr>
              <a:t>CONFORMITÉ RÉGLEMENTAIRE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333756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B"/>
                </a:solidFill>
              </a:rPr>
              <a:t>Directive Bank Al-Maghrib n° 5/W/2021 : risques climatiques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B"/>
                </a:solidFill>
              </a:rPr>
              <a:t>Loi 49-17 sur l'évaluation environnementale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B"/>
                </a:solidFill>
              </a:rPr>
              <a:t>Circulaire CFD-537/01-24 et procédure CFD12340876/0217</a:t>
            </a:r>
            <a:endParaRPr lang="en-US" sz="1500" dirty="0"/>
          </a:p>
        </p:txBody>
      </p:sp>
      <p:sp>
        <p:nvSpPr>
          <p:cNvPr id="9" name="pourquoi-1"/>
          <p:cNvSpPr/>
          <p:nvPr/>
        </p:nvSpPr>
        <p:spPr>
          <a:xfrm>
            <a:off x="4279392" y="1280160"/>
            <a:ext cx="3639312" cy="4206240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2700">
            <a:solidFill>
              <a:srgbClr val="E5D9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rond-icone"/>
          <p:cNvSpPr/>
          <p:nvPr/>
        </p:nvSpPr>
        <p:spPr>
          <a:xfrm>
            <a:off x="4553712" y="1554480"/>
            <a:ext cx="822960" cy="822960"/>
          </a:xfrm>
          <a:prstGeom prst="ellipse">
            <a:avLst/>
          </a:prstGeom>
          <a:solidFill>
            <a:srgbClr val="E37B05"/>
          </a:solidFill>
          <a:ln/>
        </p:spPr>
      </p:sp>
      <p:pic>
        <p:nvPicPr>
          <p:cNvPr id="11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719072"/>
            <a:ext cx="493776" cy="4937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53712" y="2560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62016"/>
                </a:solidFill>
              </a:rPr>
              <a:t>MAÎTRISE DU RISQUE DE CRÉDIT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4553712" y="333756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B"/>
                </a:solidFill>
              </a:rPr>
              <a:t>Liste d'exclusion et catégorisation A, B, C, FI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B"/>
                </a:solidFill>
              </a:rPr>
              <a:t>Plan d'actions correctives négocié avec le client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B"/>
                </a:solidFill>
              </a:rPr>
              <a:t>Clauses E&amp;S proposées pour le contrat de crédit</a:t>
            </a:r>
            <a:endParaRPr lang="en-US" sz="1500" dirty="0"/>
          </a:p>
        </p:txBody>
      </p:sp>
      <p:sp>
        <p:nvSpPr>
          <p:cNvPr id="14" name="pourquoi-2"/>
          <p:cNvSpPr/>
          <p:nvPr/>
        </p:nvSpPr>
        <p:spPr>
          <a:xfrm>
            <a:off x="8101584" y="1280160"/>
            <a:ext cx="3639312" cy="4206240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2700">
            <a:solidFill>
              <a:srgbClr val="E5D9C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rond-icone"/>
          <p:cNvSpPr/>
          <p:nvPr/>
        </p:nvSpPr>
        <p:spPr>
          <a:xfrm>
            <a:off x="8375904" y="1554480"/>
            <a:ext cx="822960" cy="822960"/>
          </a:xfrm>
          <a:prstGeom prst="ellipse">
            <a:avLst/>
          </a:prstGeom>
          <a:solidFill>
            <a:srgbClr val="E37B05"/>
          </a:solidFill>
          <a:ln/>
        </p:spPr>
      </p:sp>
      <p:pic>
        <p:nvPicPr>
          <p:cNvPr id="16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1719072"/>
            <a:ext cx="493776" cy="49377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375904" y="2560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62016"/>
                </a:solidFill>
              </a:rPr>
              <a:t>EXIGENCES DES BAILLEURS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8375904" y="333756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B"/>
                </a:solidFill>
              </a:rPr>
              <a:t>Normes de performance SFI, Principes de l'Équateur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B"/>
                </a:solidFill>
              </a:rPr>
              <a:t>Lignes SUNREF, MorSEFF, GEFF, BEI, SFI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D3B"/>
                </a:solidFill>
              </a:rPr>
              <a:t>Émissions financées selon la méthode PCAF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PARCOURS D'UN DOSSIER</a:t>
            </a:r>
            <a:endParaRPr lang="en-US" sz="2400" dirty="0"/>
          </a:p>
        </p:txBody>
      </p:sp>
      <p:sp>
        <p:nvSpPr>
          <p:cNvPr id="4" name="etape-1"/>
          <p:cNvSpPr/>
          <p:nvPr/>
        </p:nvSpPr>
        <p:spPr>
          <a:xfrm>
            <a:off x="457200" y="1417320"/>
            <a:ext cx="2240280" cy="1051560"/>
          </a:xfrm>
          <a:prstGeom prst="chevron">
            <a:avLst/>
          </a:prstGeom>
          <a:solidFill>
            <a:srgbClr val="E37B0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8680" y="141732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62016"/>
                </a:solidFill>
              </a:rPr>
              <a:t>Identification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8C5B52"/>
                </a:solidFill>
              </a:rPr>
              <a:t>Chargé</a:t>
            </a:r>
            <a:endParaRPr lang="en-US" sz="1500" dirty="0"/>
          </a:p>
        </p:txBody>
      </p:sp>
      <p:sp>
        <p:nvSpPr>
          <p:cNvPr id="7" name="etape-2"/>
          <p:cNvSpPr/>
          <p:nvPr/>
        </p:nvSpPr>
        <p:spPr>
          <a:xfrm>
            <a:off x="2743200" y="1417320"/>
            <a:ext cx="2240280" cy="1051560"/>
          </a:xfrm>
          <a:prstGeom prst="chevron">
            <a:avLst/>
          </a:prstGeom>
          <a:solidFill>
            <a:srgbClr val="E37B0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154680" y="141732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2834640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62016"/>
                </a:solidFill>
              </a:rPr>
              <a:t>Liste d'exclusion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8C5B52"/>
                </a:solidFill>
              </a:rPr>
              <a:t>Chargé</a:t>
            </a:r>
            <a:endParaRPr lang="en-US" sz="1500" dirty="0"/>
          </a:p>
        </p:txBody>
      </p:sp>
      <p:sp>
        <p:nvSpPr>
          <p:cNvPr id="10" name="etape-3"/>
          <p:cNvSpPr/>
          <p:nvPr/>
        </p:nvSpPr>
        <p:spPr>
          <a:xfrm>
            <a:off x="5029200" y="1417320"/>
            <a:ext cx="2240280" cy="1051560"/>
          </a:xfrm>
          <a:prstGeom prst="chevron">
            <a:avLst/>
          </a:prstGeom>
          <a:solidFill>
            <a:srgbClr val="E37B0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40680" y="141732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5120640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62016"/>
                </a:solidFill>
              </a:rPr>
              <a:t>Catégorisation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8C5B52"/>
                </a:solidFill>
              </a:rPr>
              <a:t>Chargé / RSE</a:t>
            </a:r>
            <a:endParaRPr lang="en-US" sz="1500" dirty="0"/>
          </a:p>
        </p:txBody>
      </p:sp>
      <p:sp>
        <p:nvSpPr>
          <p:cNvPr id="13" name="etape-4"/>
          <p:cNvSpPr/>
          <p:nvPr/>
        </p:nvSpPr>
        <p:spPr>
          <a:xfrm>
            <a:off x="7315200" y="1417320"/>
            <a:ext cx="2240280" cy="1051560"/>
          </a:xfrm>
          <a:prstGeom prst="chevron">
            <a:avLst/>
          </a:prstGeom>
          <a:solidFill>
            <a:srgbClr val="E37B0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26680" y="141732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7406640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62016"/>
                </a:solidFill>
              </a:rPr>
              <a:t>Risques E&amp;S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8C5B52"/>
                </a:solidFill>
              </a:rPr>
              <a:t>Chargé</a:t>
            </a:r>
            <a:endParaRPr lang="en-US" sz="1500" dirty="0"/>
          </a:p>
        </p:txBody>
      </p:sp>
      <p:sp>
        <p:nvSpPr>
          <p:cNvPr id="16" name="etape-5"/>
          <p:cNvSpPr/>
          <p:nvPr/>
        </p:nvSpPr>
        <p:spPr>
          <a:xfrm>
            <a:off x="9601200" y="1417320"/>
            <a:ext cx="2240280" cy="1051560"/>
          </a:xfrm>
          <a:prstGeom prst="chevron">
            <a:avLst/>
          </a:prstGeom>
          <a:solidFill>
            <a:srgbClr val="E37B0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012680" y="141732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9692640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62016"/>
                </a:solidFill>
              </a:rPr>
              <a:t>Climat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8C5B52"/>
                </a:solidFill>
              </a:rPr>
              <a:t>Chargé</a:t>
            </a:r>
            <a:endParaRPr lang="en-US" sz="1500" dirty="0"/>
          </a:p>
        </p:txBody>
      </p:sp>
      <p:sp>
        <p:nvSpPr>
          <p:cNvPr id="19" name="etape-6"/>
          <p:cNvSpPr/>
          <p:nvPr/>
        </p:nvSpPr>
        <p:spPr>
          <a:xfrm>
            <a:off x="457200" y="3749040"/>
            <a:ext cx="2240280" cy="1051560"/>
          </a:xfrm>
          <a:prstGeom prst="chevron">
            <a:avLst/>
          </a:prstGeom>
          <a:solidFill>
            <a:srgbClr val="8C5B5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68680" y="37490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n-US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892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62016"/>
                </a:solidFill>
              </a:rPr>
              <a:t>Plan d'actions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8C5B52"/>
                </a:solidFill>
              </a:rPr>
              <a:t>Chargé + client</a:t>
            </a:r>
            <a:endParaRPr lang="en-US" sz="1500" dirty="0"/>
          </a:p>
        </p:txBody>
      </p:sp>
      <p:sp>
        <p:nvSpPr>
          <p:cNvPr id="22" name="etape-7"/>
          <p:cNvSpPr/>
          <p:nvPr/>
        </p:nvSpPr>
        <p:spPr>
          <a:xfrm>
            <a:off x="2743200" y="3749040"/>
            <a:ext cx="2240280" cy="1051560"/>
          </a:xfrm>
          <a:prstGeom prst="chevron">
            <a:avLst/>
          </a:prstGeom>
          <a:solidFill>
            <a:srgbClr val="8C5B5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154680" y="37490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2834640" y="4892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62016"/>
                </a:solidFill>
              </a:rPr>
              <a:t>Fiche &amp; soumission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8C5B52"/>
                </a:solidFill>
              </a:rPr>
              <a:t>Chargé</a:t>
            </a:r>
            <a:endParaRPr lang="en-US" sz="1500" dirty="0"/>
          </a:p>
        </p:txBody>
      </p:sp>
      <p:sp>
        <p:nvSpPr>
          <p:cNvPr id="25" name="etape-8"/>
          <p:cNvSpPr/>
          <p:nvPr/>
        </p:nvSpPr>
        <p:spPr>
          <a:xfrm>
            <a:off x="5029200" y="3749040"/>
            <a:ext cx="2240280" cy="1051560"/>
          </a:xfrm>
          <a:prstGeom prst="chevron">
            <a:avLst/>
          </a:prstGeom>
          <a:solidFill>
            <a:srgbClr val="8C5B5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440680" y="37490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5120640" y="4892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62016"/>
                </a:solidFill>
              </a:rPr>
              <a:t>Validation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8C5B52"/>
                </a:solidFill>
              </a:rPr>
              <a:t>Directeur</a:t>
            </a:r>
            <a:endParaRPr lang="en-US" sz="1500" dirty="0"/>
          </a:p>
        </p:txBody>
      </p:sp>
      <p:sp>
        <p:nvSpPr>
          <p:cNvPr id="28" name="etape-9"/>
          <p:cNvSpPr/>
          <p:nvPr/>
        </p:nvSpPr>
        <p:spPr>
          <a:xfrm>
            <a:off x="7315200" y="3749040"/>
            <a:ext cx="2240280" cy="1051560"/>
          </a:xfrm>
          <a:prstGeom prst="chevron">
            <a:avLst/>
          </a:prstGeom>
          <a:solidFill>
            <a:srgbClr val="8C5B5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726680" y="37490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n-US" sz="2800" dirty="0"/>
          </a:p>
        </p:txBody>
      </p:sp>
      <p:sp>
        <p:nvSpPr>
          <p:cNvPr id="30" name="Text 27"/>
          <p:cNvSpPr txBox="1"/>
          <p:nvPr/>
        </p:nvSpPr>
        <p:spPr>
          <a:xfrm>
            <a:off x="7406640" y="4892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62016"/>
                </a:solidFill>
              </a:rPr>
              <a:t>Décision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8C5B52"/>
                </a:solidFill>
              </a:rPr>
              <a:t>Comité</a:t>
            </a:r>
            <a:endParaRPr lang="en-US" sz="1500" dirty="0"/>
          </a:p>
        </p:txBody>
      </p:sp>
      <p:sp>
        <p:nvSpPr>
          <p:cNvPr id="31" name="etape-10"/>
          <p:cNvSpPr/>
          <p:nvPr/>
        </p:nvSpPr>
        <p:spPr>
          <a:xfrm>
            <a:off x="9601200" y="3749040"/>
            <a:ext cx="2240280" cy="1051560"/>
          </a:xfrm>
          <a:prstGeom prst="chevron">
            <a:avLst/>
          </a:prstGeom>
          <a:solidFill>
            <a:srgbClr val="8C5B5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012680" y="37490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</a:t>
            </a:r>
            <a:endParaRPr lang="en-US" sz="2800" dirty="0"/>
          </a:p>
        </p:txBody>
      </p:sp>
      <p:sp>
        <p:nvSpPr>
          <p:cNvPr id="33" name="Text 30"/>
          <p:cNvSpPr txBox="1"/>
          <p:nvPr/>
        </p:nvSpPr>
        <p:spPr>
          <a:xfrm>
            <a:off x="9692640" y="4892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62016"/>
                </a:solidFill>
              </a:rPr>
              <a:t>Suivi &amp; clôture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8C5B52"/>
                </a:solidFill>
              </a:rPr>
              <a:t>Chargé / Directeur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89320"/>
            <a:ext cx="11320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5B52"/>
                </a:solidFill>
              </a:rPr>
              <a:t>Évaluation par le chargé (1 à 7), contrôle par la direction et le comité (8 et 9), suivi du plan d'actions jusqu'à la clôture (10).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GOUVERNANCE ET CONTRÔLE INTERNE</a:t>
            </a:r>
            <a:endParaRPr lang="en-US" sz="2400" dirty="0"/>
          </a:p>
        </p:txBody>
      </p:sp>
      <p:sp>
        <p:nvSpPr>
          <p:cNvPr id="4" name="controle-0"/>
          <p:cNvSpPr/>
          <p:nvPr/>
        </p:nvSpPr>
        <p:spPr>
          <a:xfrm>
            <a:off x="457200" y="1325880"/>
            <a:ext cx="5532120" cy="2240280"/>
          </a:xfrm>
          <a:prstGeom prst="roundRect">
            <a:avLst>
              <a:gd name="adj" fmla="val 4082"/>
            </a:avLst>
          </a:prstGeom>
          <a:solidFill>
            <a:srgbClr val="F2E8DB"/>
          </a:solidFill>
          <a:ln/>
        </p:spPr>
      </p:sp>
      <p:sp>
        <p:nvSpPr>
          <p:cNvPr id="5" name="rond-icone"/>
          <p:cNvSpPr/>
          <p:nvPr/>
        </p:nvSpPr>
        <p:spPr>
          <a:xfrm>
            <a:off x="777240" y="1691640"/>
            <a:ext cx="868680" cy="868680"/>
          </a:xfrm>
          <a:prstGeom prst="ellipse">
            <a:avLst/>
          </a:prstGeom>
          <a:solidFill>
            <a:srgbClr val="E37B05"/>
          </a:solidFill>
          <a:ln/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865376"/>
            <a:ext cx="521208" cy="5212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920240" y="1600200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462016"/>
                </a:solidFill>
              </a:rPr>
              <a:t>SÉPARATION DES FONCTIONS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D3D3B"/>
                </a:solidFill>
              </a:rPr>
              <a:t>Le chargé d'un dossier ne peut jamais le valider ; chaque rôle a ses droits.</a:t>
            </a:r>
            <a:endParaRPr lang="en-US" sz="1800" dirty="0"/>
          </a:p>
        </p:txBody>
      </p:sp>
      <p:sp>
        <p:nvSpPr>
          <p:cNvPr id="8" name="controle-1"/>
          <p:cNvSpPr/>
          <p:nvPr/>
        </p:nvSpPr>
        <p:spPr>
          <a:xfrm>
            <a:off x="6217920" y="1325880"/>
            <a:ext cx="5532120" cy="2240280"/>
          </a:xfrm>
          <a:prstGeom prst="roundRect">
            <a:avLst>
              <a:gd name="adj" fmla="val 4082"/>
            </a:avLst>
          </a:prstGeom>
          <a:solidFill>
            <a:srgbClr val="FBF6F0"/>
          </a:solidFill>
          <a:ln/>
        </p:spPr>
      </p:sp>
      <p:sp>
        <p:nvSpPr>
          <p:cNvPr id="9" name="rond-icone"/>
          <p:cNvSpPr/>
          <p:nvPr/>
        </p:nvSpPr>
        <p:spPr>
          <a:xfrm>
            <a:off x="6537960" y="1691640"/>
            <a:ext cx="868680" cy="868680"/>
          </a:xfrm>
          <a:prstGeom prst="ellipse">
            <a:avLst/>
          </a:prstGeom>
          <a:solidFill>
            <a:srgbClr val="E37B05"/>
          </a:solidFill>
          <a:ln/>
        </p:spPr>
      </p:sp>
      <p:pic>
        <p:nvPicPr>
          <p:cNvPr id="10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1865376"/>
            <a:ext cx="521208" cy="5212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80960" y="1600200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462016"/>
                </a:solidFill>
              </a:rPr>
              <a:t>VERROUILLAGE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D3D3B"/>
                </a:solidFill>
              </a:rPr>
              <a:t>Après validation, l'évaluation est figée : catégorie, risques, climat et cours de change.</a:t>
            </a:r>
            <a:endParaRPr lang="en-US" sz="1800" dirty="0"/>
          </a:p>
        </p:txBody>
      </p:sp>
      <p:sp>
        <p:nvSpPr>
          <p:cNvPr id="12" name="controle-2"/>
          <p:cNvSpPr/>
          <p:nvPr/>
        </p:nvSpPr>
        <p:spPr>
          <a:xfrm>
            <a:off x="457200" y="3794760"/>
            <a:ext cx="5532120" cy="2240280"/>
          </a:xfrm>
          <a:prstGeom prst="roundRect">
            <a:avLst>
              <a:gd name="adj" fmla="val 4082"/>
            </a:avLst>
          </a:prstGeom>
          <a:solidFill>
            <a:srgbClr val="FBF6F0"/>
          </a:solidFill>
          <a:ln/>
        </p:spPr>
      </p:sp>
      <p:sp>
        <p:nvSpPr>
          <p:cNvPr id="13" name="rond-icone"/>
          <p:cNvSpPr/>
          <p:nvPr/>
        </p:nvSpPr>
        <p:spPr>
          <a:xfrm>
            <a:off x="777240" y="4160520"/>
            <a:ext cx="868680" cy="868680"/>
          </a:xfrm>
          <a:prstGeom prst="ellipse">
            <a:avLst/>
          </a:prstGeom>
          <a:solidFill>
            <a:srgbClr val="8C5B52"/>
          </a:solidFill>
          <a:ln/>
        </p:spPr>
      </p:sp>
      <p:pic>
        <p:nvPicPr>
          <p:cNvPr id="14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334256"/>
            <a:ext cx="521208" cy="52120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920240" y="4069080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462016"/>
                </a:solidFill>
              </a:rPr>
              <a:t>TRAÇABILITÉ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D3D3B"/>
                </a:solidFill>
              </a:rPr>
              <a:t>Historique du dossier, journal d'audit et instantané scellé à la soumission et à la validation.</a:t>
            </a:r>
            <a:endParaRPr lang="en-US" sz="1800" dirty="0"/>
          </a:p>
        </p:txBody>
      </p:sp>
      <p:sp>
        <p:nvSpPr>
          <p:cNvPr id="16" name="controle-3"/>
          <p:cNvSpPr/>
          <p:nvPr/>
        </p:nvSpPr>
        <p:spPr>
          <a:xfrm>
            <a:off x="6217920" y="3794760"/>
            <a:ext cx="5532120" cy="2240280"/>
          </a:xfrm>
          <a:prstGeom prst="roundRect">
            <a:avLst>
              <a:gd name="adj" fmla="val 4082"/>
            </a:avLst>
          </a:prstGeom>
          <a:solidFill>
            <a:srgbClr val="F2E8DB"/>
          </a:solidFill>
          <a:ln/>
        </p:spPr>
      </p:sp>
      <p:sp>
        <p:nvSpPr>
          <p:cNvPr id="17" name="rond-icone"/>
          <p:cNvSpPr/>
          <p:nvPr/>
        </p:nvSpPr>
        <p:spPr>
          <a:xfrm>
            <a:off x="6537960" y="4160520"/>
            <a:ext cx="868680" cy="868680"/>
          </a:xfrm>
          <a:prstGeom prst="ellipse">
            <a:avLst/>
          </a:prstGeom>
          <a:solidFill>
            <a:srgbClr val="8C5B52"/>
          </a:solidFill>
          <a:ln/>
        </p:spPr>
      </p:sp>
      <p:pic>
        <p:nvPicPr>
          <p:cNvPr id="18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4334256"/>
            <a:ext cx="521208" cy="52120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680960" y="4069080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462016"/>
                </a:solidFill>
              </a:rPr>
              <a:t>PÉRIMÈTRE PAR ENTITÉ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D3D3B"/>
                </a:solidFill>
              </a:rPr>
              <a:t>Chaque utilisateur ne voit que sa banque, son centre d'affaires ou sa filiale.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PILOTAGE DU PORTEFEUILLE EN TEMPS RÉEL</a:t>
            </a:r>
            <a:endParaRPr lang="en-US" sz="2400" dirty="0"/>
          </a:p>
        </p:txBody>
      </p:sp>
      <p:sp>
        <p:nvSpPr>
          <p:cNvPr id="4" name="tableau-de-bord-cadre"/>
          <p:cNvSpPr/>
          <p:nvPr/>
        </p:nvSpPr>
        <p:spPr>
          <a:xfrm>
            <a:off x="420624" y="1197864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tableau-de-bord" descr="tableau-de-b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7589520" cy="4269334"/>
          </a:xfrm>
          <a:prstGeom prst="rect">
            <a:avLst/>
          </a:prstGeom>
        </p:spPr>
      </p:pic>
      <p:sp>
        <p:nvSpPr>
          <p:cNvPr id="6" name="pastille-1"/>
          <p:cNvSpPr/>
          <p:nvPr/>
        </p:nvSpPr>
        <p:spPr>
          <a:xfrm>
            <a:off x="8366760" y="1280160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36676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796528" y="1261872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À traiter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Dossiers à valider, en attente de décision, actions correctives en retard, visites à planifier.</a:t>
            </a:r>
            <a:endParaRPr lang="en-US" sz="1400" dirty="0"/>
          </a:p>
        </p:txBody>
      </p:sp>
      <p:sp>
        <p:nvSpPr>
          <p:cNvPr id="9" name="pastille-2"/>
          <p:cNvSpPr/>
          <p:nvPr/>
        </p:nvSpPr>
        <p:spPr>
          <a:xfrm>
            <a:off x="8366760" y="2743200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36676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796528" y="2724912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Portefeuille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Dossiers, montants évalués, projets de catégorie A, exclusions.</a:t>
            </a:r>
            <a:endParaRPr lang="en-US" sz="1400" dirty="0"/>
          </a:p>
        </p:txBody>
      </p:sp>
      <p:sp>
        <p:nvSpPr>
          <p:cNvPr id="12" name="pastille-3"/>
          <p:cNvSpPr/>
          <p:nvPr/>
        </p:nvSpPr>
        <p:spPr>
          <a:xfrm>
            <a:off x="8366760" y="4206240"/>
            <a:ext cx="329184" cy="329184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366760" y="4206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796528" y="4187952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Décisions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Répartition par catégorie, risque E&amp;S résiduel, taux d'accord des comités.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56235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5B52"/>
                </a:solidFill>
              </a:rPr>
              <a:t>Données de démonstration.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RISQUE CLIMATIQUE, MESURÉ DOSSIER PAR DOSSIER</a:t>
            </a:r>
            <a:endParaRPr lang="en-US" sz="2400" dirty="0"/>
          </a:p>
        </p:txBody>
      </p:sp>
      <p:sp>
        <p:nvSpPr>
          <p:cNvPr id="4" name="climat-portefeuille-cadre"/>
          <p:cNvSpPr/>
          <p:nvPr/>
        </p:nvSpPr>
        <p:spPr>
          <a:xfrm>
            <a:off x="4151376" y="1197864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climat-portefeuille" descr="climat-portefeui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1234440"/>
            <a:ext cx="7589520" cy="4269334"/>
          </a:xfrm>
          <a:prstGeom prst="rect">
            <a:avLst/>
          </a:prstGeom>
        </p:spPr>
      </p:pic>
      <p:sp>
        <p:nvSpPr>
          <p:cNvPr id="6" name="rond-icone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rgbClr val="E37B05"/>
          </a:solidFill>
          <a:ln/>
        </p:spPr>
      </p:sp>
      <p:pic>
        <p:nvPicPr>
          <p:cNvPr id="7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89888"/>
            <a:ext cx="329184" cy="32918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43000" y="1243584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Risque physique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7 aléas par région (stress hydrique, inondation, chaleur, séisme…).</a:t>
            </a:r>
            <a:endParaRPr lang="en-US" sz="1400" dirty="0"/>
          </a:p>
        </p:txBody>
      </p:sp>
      <p:sp>
        <p:nvSpPr>
          <p:cNvPr id="9" name="rond-icone"/>
          <p:cNvSpPr/>
          <p:nvPr/>
        </p:nvSpPr>
        <p:spPr>
          <a:xfrm>
            <a:off x="457200" y="2359152"/>
            <a:ext cx="548640" cy="548640"/>
          </a:xfrm>
          <a:prstGeom prst="ellipse">
            <a:avLst/>
          </a:prstGeom>
          <a:solidFill>
            <a:srgbClr val="8C5B52"/>
          </a:solidFill>
          <a:ln/>
        </p:spPr>
      </p:sp>
      <p:pic>
        <p:nvPicPr>
          <p:cNvPr id="10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68880"/>
            <a:ext cx="329184" cy="329184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43000" y="2322576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Risque de transition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Secteur, CBAM, prix du carbone selon 3 scénarios NGFS.</a:t>
            </a:r>
            <a:endParaRPr lang="en-US" sz="1400" dirty="0"/>
          </a:p>
        </p:txBody>
      </p:sp>
      <p:sp>
        <p:nvSpPr>
          <p:cNvPr id="12" name="rond-icone"/>
          <p:cNvSpPr/>
          <p:nvPr/>
        </p:nvSpPr>
        <p:spPr>
          <a:xfrm>
            <a:off x="457200" y="3438144"/>
            <a:ext cx="548640" cy="548640"/>
          </a:xfrm>
          <a:prstGeom prst="ellipse">
            <a:avLst/>
          </a:prstGeom>
          <a:solidFill>
            <a:srgbClr val="E37B05"/>
          </a:solidFill>
          <a:ln/>
        </p:spPr>
      </p:sp>
      <p:pic>
        <p:nvPicPr>
          <p:cNvPr id="13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547872"/>
            <a:ext cx="329184" cy="32918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143000" y="340156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Émissions financées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Méthode PCAF, qualité de la donnée notée de 1 à 5.</a:t>
            </a:r>
            <a:endParaRPr lang="en-US" sz="1400" dirty="0"/>
          </a:p>
        </p:txBody>
      </p:sp>
      <p:sp>
        <p:nvSpPr>
          <p:cNvPr id="15" name="rond-icone"/>
          <p:cNvSpPr/>
          <p:nvPr/>
        </p:nvSpPr>
        <p:spPr>
          <a:xfrm>
            <a:off x="457200" y="4517136"/>
            <a:ext cx="548640" cy="548640"/>
          </a:xfrm>
          <a:prstGeom prst="ellipse">
            <a:avLst/>
          </a:prstGeom>
          <a:solidFill>
            <a:srgbClr val="8C5B52"/>
          </a:solidFill>
          <a:ln/>
        </p:spPr>
      </p:sp>
      <p:pic>
        <p:nvPicPr>
          <p:cNvPr id="16" name="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626864"/>
            <a:ext cx="329184" cy="329184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143000" y="44805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Reporting BAM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Export Excel par dossier, région, secteur et ligne.</a:t>
            </a:r>
            <a:endParaRPr lang="en-US" sz="1400" dirty="0"/>
          </a:p>
        </p:txBody>
      </p:sp>
      <p:sp>
        <p:nvSpPr>
          <p:cNvPr id="18" name="avertissement-climat"/>
          <p:cNvSpPr/>
          <p:nvPr/>
        </p:nvSpPr>
        <p:spPr>
          <a:xfrm>
            <a:off x="457200" y="5669280"/>
            <a:ext cx="11320272" cy="594360"/>
          </a:xfrm>
          <a:prstGeom prst="roundRect">
            <a:avLst>
              <a:gd name="adj" fmla="val 12308"/>
            </a:avLst>
          </a:prstGeom>
          <a:solidFill>
            <a:srgbClr val="F2E8DB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685800" y="56692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Méthode indicative : à calibrer et valider par la Fonction Risques avant tout usage prudentiel.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L'INTELLIGENCE ARTIFICIELLE AU SERVICE DU CHARGÉ</a:t>
            </a:r>
            <a:endParaRPr lang="en-US" sz="2400" dirty="0"/>
          </a:p>
        </p:txBody>
      </p:sp>
      <p:sp>
        <p:nvSpPr>
          <p:cNvPr id="4" name="pieces-check-list-cadre"/>
          <p:cNvSpPr/>
          <p:nvPr/>
        </p:nvSpPr>
        <p:spPr>
          <a:xfrm>
            <a:off x="420624" y="1197864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pieces-check-list" descr="pieces-check-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7589520" cy="426933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32104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7B05"/>
                </a:solidFill>
              </a:rPr>
              <a:t>CE QU'ELLE FAIT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8321040" y="164592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D3D3B"/>
                </a:solidFill>
              </a:rPr>
              <a:t>Lit les pièces (EIES, PGES, autorisations) et signale les informations manquantes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D3D3B"/>
                </a:solidFill>
              </a:rPr>
              <a:t>Pré-remplit catégorisation et questionnaire, avec justification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D3D3B"/>
                </a:solidFill>
              </a:rPr>
              <a:t>Rédige commentaire, synthèse pour le comité et clauses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D3D3B"/>
                </a:solidFill>
              </a:rPr>
              <a:t>Prépare le canevas à remplir avec le client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32104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5B52"/>
                </a:solidFill>
              </a:rPr>
              <a:t>GARDE-FOUS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321040" y="46177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3D3B"/>
                </a:solidFill>
              </a:rPr>
              <a:t>Désactivée par défaut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3D3B"/>
                </a:solidFill>
              </a:rPr>
              <a:t>Données personnelles masquées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3D3B"/>
                </a:solidFill>
              </a:rPr>
              <a:t>Validation humaine systématique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PARAMÉTRABLE SANS DÉVELOPPEMENT</a:t>
            </a:r>
            <a:endParaRPr lang="en-US" sz="2400" dirty="0"/>
          </a:p>
        </p:txBody>
      </p:sp>
      <p:sp>
        <p:nvSpPr>
          <p:cNvPr id="4" name="parametrage-cadre"/>
          <p:cNvSpPr/>
          <p:nvPr/>
        </p:nvSpPr>
        <p:spPr>
          <a:xfrm>
            <a:off x="4151376" y="1197864"/>
            <a:ext cx="7662672" cy="4342486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parametrage" descr="parametr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1234440"/>
            <a:ext cx="7589520" cy="4269334"/>
          </a:xfrm>
          <a:prstGeom prst="rect">
            <a:avLst/>
          </a:prstGeom>
        </p:spPr>
      </p:pic>
      <p:sp>
        <p:nvSpPr>
          <p:cNvPr id="6" name="pastille-1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005840" y="1243584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Règles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Seuils, délais, séparation des fonctions, volet climat, IA.</a:t>
            </a:r>
            <a:endParaRPr lang="en-US" sz="1400" dirty="0"/>
          </a:p>
        </p:txBody>
      </p:sp>
      <p:sp>
        <p:nvSpPr>
          <p:cNvPr id="9" name="pastille-2"/>
          <p:cNvSpPr/>
          <p:nvPr/>
        </p:nvSpPr>
        <p:spPr>
          <a:xfrm>
            <a:off x="457200" y="2359152"/>
            <a:ext cx="384048" cy="384048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005840" y="2322576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Questionnaires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Questions, niveaux (minimum, standard, complet), modules d'activité.</a:t>
            </a:r>
            <a:endParaRPr lang="en-US" sz="1400" dirty="0"/>
          </a:p>
        </p:txBody>
      </p:sp>
      <p:sp>
        <p:nvSpPr>
          <p:cNvPr id="12" name="pastille-3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4015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Référentiels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Exclusion, catégorisation, secteurs, régions, listes en 3 langues.</a:t>
            </a:r>
            <a:endParaRPr lang="en-US" sz="1400" dirty="0"/>
          </a:p>
        </p:txBody>
      </p:sp>
      <p:sp>
        <p:nvSpPr>
          <p:cNvPr id="15" name="pastille-4"/>
          <p:cNvSpPr/>
          <p:nvPr/>
        </p:nvSpPr>
        <p:spPr>
          <a:xfrm>
            <a:off x="457200" y="4517136"/>
            <a:ext cx="384048" cy="384048"/>
          </a:xfrm>
          <a:prstGeom prst="ellipse">
            <a:avLst/>
          </a:prstGeom>
          <a:solidFill>
            <a:srgbClr val="E12E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005840" y="44805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2016"/>
                </a:solidFill>
              </a:rPr>
              <a:t>Organisation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Entités, utilisateurs, rôles, devises, habillage.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5715000"/>
            <a:ext cx="11320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5B52"/>
                </a:solidFill>
              </a:rPr>
              <a:t>Toute modification du paramétrage est journalisée.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A ÉTÉ VÉRIFIÉ</a:t>
            </a:r>
            <a:endParaRPr lang="en-US" sz="2400" dirty="0"/>
          </a:p>
        </p:txBody>
      </p:sp>
      <p:sp>
        <p:nvSpPr>
          <p:cNvPr id="4" name="stat-0"/>
          <p:cNvSpPr/>
          <p:nvPr/>
        </p:nvSpPr>
        <p:spPr>
          <a:xfrm>
            <a:off x="457200" y="137160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F2E8D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6459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37B05"/>
                </a:solidFill>
              </a:rPr>
              <a:t>107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880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62016"/>
                </a:solidFill>
              </a:rPr>
              <a:t>TESTS AUTOMATISÉS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règles de catégorisation, risque, climat, circuit, devises</a:t>
            </a:r>
            <a:endParaRPr lang="en-US" sz="1400" dirty="0"/>
          </a:p>
        </p:txBody>
      </p:sp>
      <p:sp>
        <p:nvSpPr>
          <p:cNvPr id="8" name="stat-1"/>
          <p:cNvSpPr/>
          <p:nvPr/>
        </p:nvSpPr>
        <p:spPr>
          <a:xfrm>
            <a:off x="3319272" y="137160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FBF6F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02152" y="16459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37B05"/>
                </a:solidFill>
              </a:rPr>
              <a:t>612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3502152" y="2880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62016"/>
                </a:solidFill>
              </a:rPr>
              <a:t>ÉCRANS PARCOURUS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502152" y="36576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10 profils, 3 langues et mobile, sans anomalie</a:t>
            </a:r>
            <a:endParaRPr lang="en-US" sz="1400" dirty="0"/>
          </a:p>
        </p:txBody>
      </p:sp>
      <p:sp>
        <p:nvSpPr>
          <p:cNvPr id="12" name="stat-2"/>
          <p:cNvSpPr/>
          <p:nvPr/>
        </p:nvSpPr>
        <p:spPr>
          <a:xfrm>
            <a:off x="6181344" y="137160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F2E8D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64224" y="16459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37B05"/>
                </a:solidFill>
              </a:rPr>
              <a:t>20 / 20</a:t>
            </a:r>
            <a:endParaRPr lang="en-US" sz="4800" dirty="0"/>
          </a:p>
        </p:txBody>
      </p:sp>
      <p:sp>
        <p:nvSpPr>
          <p:cNvPr id="14" name="Text 11"/>
          <p:cNvSpPr txBox="1"/>
          <p:nvPr/>
        </p:nvSpPr>
        <p:spPr>
          <a:xfrm>
            <a:off x="6364224" y="2880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62016"/>
                </a:solidFill>
              </a:rPr>
              <a:t>CONTRÔLES DU CIRCUIT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364224" y="36576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séparation des fonctions, retours, ajournement, réouverture</a:t>
            </a:r>
            <a:endParaRPr lang="en-US" sz="1400" dirty="0"/>
          </a:p>
        </p:txBody>
      </p:sp>
      <p:sp>
        <p:nvSpPr>
          <p:cNvPr id="16" name="stat-3"/>
          <p:cNvSpPr/>
          <p:nvPr/>
        </p:nvSpPr>
        <p:spPr>
          <a:xfrm>
            <a:off x="9043416" y="1371600"/>
            <a:ext cx="2670048" cy="3566160"/>
          </a:xfrm>
          <a:prstGeom prst="roundRect">
            <a:avLst>
              <a:gd name="adj" fmla="val 3425"/>
            </a:avLst>
          </a:prstGeom>
          <a:solidFill>
            <a:srgbClr val="FBF6F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226296" y="16459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37B05"/>
                </a:solidFill>
              </a:rPr>
              <a:t>4</a:t>
            </a:r>
            <a:endParaRPr lang="en-US" sz="4800" dirty="0"/>
          </a:p>
        </p:txBody>
      </p:sp>
      <p:sp>
        <p:nvSpPr>
          <p:cNvPr id="18" name="Text 15"/>
          <p:cNvSpPr txBox="1"/>
          <p:nvPr/>
        </p:nvSpPr>
        <p:spPr>
          <a:xfrm>
            <a:off x="9226296" y="2880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62016"/>
                </a:solidFill>
              </a:rPr>
              <a:t>MOTEURS DE BASE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226296" y="36576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B"/>
                </a:solidFill>
              </a:rPr>
              <a:t>PostgreSQL (recetté), SQL Server, MySQL et SQLite par le même schéma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5532120"/>
            <a:ext cx="11320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2016"/>
                </a:solidFill>
              </a:rPr>
              <a:t>Le parcours complet d'un dossier (création, évaluation, validation, décision, suivi, clôture) a été rejoué sans erreur.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94360" y="27432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DÉCISIONS ATTENDUES</a:t>
            </a:r>
            <a:endParaRPr lang="en-US" sz="2400" dirty="0"/>
          </a:p>
        </p:txBody>
      </p:sp>
      <p:sp>
        <p:nvSpPr>
          <p:cNvPr id="4" name="decision-1"/>
          <p:cNvSpPr/>
          <p:nvPr/>
        </p:nvSpPr>
        <p:spPr>
          <a:xfrm>
            <a:off x="457200" y="1280160"/>
            <a:ext cx="11320272" cy="841248"/>
          </a:xfrm>
          <a:prstGeom prst="roundRect">
            <a:avLst>
              <a:gd name="adj" fmla="val 8696"/>
            </a:avLst>
          </a:prstGeom>
          <a:solidFill>
            <a:srgbClr val="F2E8D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28016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7B05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280160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2016"/>
                </a:solidFill>
              </a:rPr>
              <a:t>Valider le marquage des questions</a:t>
            </a:r>
            <a:pPr indent="0" marL="0">
              <a:buNone/>
            </a:pPr>
            <a:r>
              <a:rPr lang="en-US" sz="1600" dirty="0">
                <a:solidFill>
                  <a:srgbClr val="3D3D3B"/>
                </a:solidFill>
              </a:rPr>
              <a:t>  —  Responsable RSE et Conformité, avant tout allègement des questionnaires B et C.</a:t>
            </a:r>
            <a:endParaRPr lang="en-US" sz="1600" dirty="0"/>
          </a:p>
        </p:txBody>
      </p:sp>
      <p:sp>
        <p:nvSpPr>
          <p:cNvPr id="7" name="decision-2"/>
          <p:cNvSpPr/>
          <p:nvPr/>
        </p:nvSpPr>
        <p:spPr>
          <a:xfrm>
            <a:off x="457200" y="2267712"/>
            <a:ext cx="11320272" cy="841248"/>
          </a:xfrm>
          <a:prstGeom prst="roundRect">
            <a:avLst>
              <a:gd name="adj" fmla="val 8696"/>
            </a:avLst>
          </a:prstGeom>
          <a:solidFill>
            <a:srgbClr val="FBF6F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2267712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7B05"/>
                </a:solidFill>
              </a:rPr>
              <a:t>02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267712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2016"/>
                </a:solidFill>
              </a:rPr>
              <a:t>Lancer un pilote</a:t>
            </a:r>
            <a:pPr indent="0" marL="0">
              <a:buNone/>
            </a:pPr>
            <a:r>
              <a:rPr lang="en-US" sz="1600" dirty="0">
                <a:solidFill>
                  <a:srgbClr val="3D3D3B"/>
                </a:solidFill>
              </a:rPr>
              <a:t>  —  Deux centres d'affaires et une banque régionale, pendant un trimestre.</a:t>
            </a:r>
            <a:endParaRPr lang="en-US" sz="1600" dirty="0"/>
          </a:p>
        </p:txBody>
      </p:sp>
      <p:sp>
        <p:nvSpPr>
          <p:cNvPr id="10" name="decision-3"/>
          <p:cNvSpPr/>
          <p:nvPr/>
        </p:nvSpPr>
        <p:spPr>
          <a:xfrm>
            <a:off x="457200" y="3255264"/>
            <a:ext cx="11320272" cy="841248"/>
          </a:xfrm>
          <a:prstGeom prst="roundRect">
            <a:avLst>
              <a:gd name="adj" fmla="val 8696"/>
            </a:avLst>
          </a:prstGeom>
          <a:solidFill>
            <a:srgbClr val="F2E8D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3255264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7B05"/>
                </a:solidFill>
              </a:rPr>
              <a:t>03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1554480" y="3255264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2016"/>
                </a:solidFill>
              </a:rPr>
              <a:t>Former les utilisateurs</a:t>
            </a:r>
            <a:pPr indent="0" marL="0">
              <a:buNone/>
            </a:pPr>
            <a:r>
              <a:rPr lang="en-US" sz="1600" dirty="0">
                <a:solidFill>
                  <a:srgbClr val="3D3D3B"/>
                </a:solidFill>
              </a:rPr>
              <a:t>  —  Guide de formation joint ; session de 2 heures par rôle.</a:t>
            </a:r>
            <a:endParaRPr lang="en-US" sz="1600" dirty="0"/>
          </a:p>
        </p:txBody>
      </p:sp>
      <p:sp>
        <p:nvSpPr>
          <p:cNvPr id="13" name="decision-4"/>
          <p:cNvSpPr/>
          <p:nvPr/>
        </p:nvSpPr>
        <p:spPr>
          <a:xfrm>
            <a:off x="457200" y="4242816"/>
            <a:ext cx="11320272" cy="841248"/>
          </a:xfrm>
          <a:prstGeom prst="roundRect">
            <a:avLst>
              <a:gd name="adj" fmla="val 8696"/>
            </a:avLst>
          </a:prstGeom>
          <a:solidFill>
            <a:srgbClr val="FBF6F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5800" y="4242816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7B05"/>
                </a:solidFill>
              </a:rPr>
              <a:t>04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4242816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2016"/>
                </a:solidFill>
              </a:rPr>
              <a:t>Activer l'assistant IA</a:t>
            </a:r>
            <a:pPr indent="0" marL="0">
              <a:buNone/>
            </a:pPr>
            <a:r>
              <a:rPr lang="en-US" sz="1600" dirty="0">
                <a:solidFill>
                  <a:srgbClr val="3D3D3B"/>
                </a:solidFill>
              </a:rPr>
              <a:t>  —  Après avis de la Conformité et de la sécurité des systèmes d'information.</a:t>
            </a:r>
            <a:endParaRPr lang="en-US" sz="1600" dirty="0"/>
          </a:p>
        </p:txBody>
      </p:sp>
      <p:sp>
        <p:nvSpPr>
          <p:cNvPr id="16" name="decision-5"/>
          <p:cNvSpPr/>
          <p:nvPr/>
        </p:nvSpPr>
        <p:spPr>
          <a:xfrm>
            <a:off x="457200" y="5230368"/>
            <a:ext cx="11320272" cy="841248"/>
          </a:xfrm>
          <a:prstGeom prst="roundRect">
            <a:avLst>
              <a:gd name="adj" fmla="val 8696"/>
            </a:avLst>
          </a:prstGeom>
          <a:solidFill>
            <a:srgbClr val="F2E8D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5230368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7B05"/>
                </a:solidFill>
              </a:rPr>
              <a:t>05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1554480" y="5230368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2016"/>
                </a:solidFill>
              </a:rPr>
              <a:t>Connecter la plateforme d'octroi</a:t>
            </a:r>
            <a:pPr indent="0" marL="0">
              <a:buNone/>
            </a:pPr>
            <a:r>
              <a:rPr lang="en-US" sz="1600" dirty="0">
                <a:solidFill>
                  <a:srgbClr val="3D3D3B"/>
                </a:solidFill>
              </a:rPr>
              <a:t>  —  La fiche E&amp;S est déjà exposée par une API sécurisée par clé.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5B5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731520" y="320040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731520" y="461772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de l'outil et questions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oupe BCP">
  <a:themeElements>
    <a:clrScheme name="Groupe BCP">
      <a:dk1>
        <a:srgbClr val="3D3D3B"/>
      </a:dk1>
      <a:lt1>
        <a:srgbClr val="FFFFFF"/>
      </a:lt1>
      <a:dk2>
        <a:srgbClr val="462016"/>
      </a:dk2>
      <a:lt2>
        <a:srgbClr val="F2E8DB"/>
      </a:lt2>
      <a:accent1>
        <a:srgbClr val="E37B05"/>
      </a:accent1>
      <a:accent2>
        <a:srgbClr val="ED6D19"/>
      </a:accent2>
      <a:accent3>
        <a:srgbClr val="E12E16"/>
      </a:accent3>
      <a:accent4>
        <a:srgbClr val="8C5B52"/>
      </a:accent4>
      <a:accent5>
        <a:srgbClr val="C9560C"/>
      </a:accent5>
      <a:accent6>
        <a:srgbClr val="B3B2B2"/>
      </a:accent6>
      <a:hlink>
        <a:srgbClr val="C9560C"/>
      </a:hlink>
      <a:folHlink>
        <a:srgbClr val="8C5B52"/>
      </a:folHlink>
    </a:clrScheme>
    <a:fontScheme name="Groupe BC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SGES — Présentation au management</dc:title>
  <dc:subject>PptxGenJS Presentation</dc:subject>
  <dc:creator>Projet SGES</dc:creator>
  <cp:lastModifiedBy>Projet SGES</cp:lastModifiedBy>
  <cp:revision>1</cp:revision>
  <dcterms:created xsi:type="dcterms:W3CDTF">2026-10-26T16:52:09Z</dcterms:created>
  <dcterms:modified xsi:type="dcterms:W3CDTF">2026-10-26T16:52:09Z</dcterms:modified>
</cp:coreProperties>
</file>