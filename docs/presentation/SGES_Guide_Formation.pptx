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61cd727-06f0-a81f-5120-ec30b10a0cfe}">
          <p14:sldIdLst>
            <p14:sldId id="256"/>
            <p14:sldId id="257"/>
            <p14:sldId id="258"/>
          </p14:sldIdLst>
        </p14:section>
        <p14:section name="Prise en main" id="{0071ea97-7ea7-f914-33c1-5f332286449b}">
          <p14:sldIdLst>
            <p14:sldId id="259"/>
            <p14:sldId id="260"/>
            <p14:sldId id="261"/>
            <p14:sldId id="262"/>
          </p14:sldIdLst>
        </p14:section>
        <p14:section name="Évaluer un dossier" id="{1ecc0744-8e97-820c-965a-42696bbe8a4b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Valider et décider" id="{94d7670a-3055-8815-0b69-b9e01ac11fab}">
          <p14:sldIdLst>
            <p14:sldId id="277"/>
            <p14:sldId id="278"/>
            <p14:sldId id="279"/>
          </p14:sldIdLst>
        </p14:section>
        <p14:section name="Suivre" id="{e6bb15dd-8f7f-70e1-1256-451f2957917e}">
          <p14:sldIdLst>
            <p14:sldId id="280"/>
            <p14:sldId id="281"/>
            <p14:sldId id="282"/>
            <p14:sldId id="283"/>
          </p14:sldIdLst>
        </p14:section>
        <p14:section name="Piloter" id="{5c9c04a1-7895-5760-9562-c7b9c17ba909}">
          <p14:sldIdLst>
            <p14:sldId id="284"/>
            <p14:sldId id="285"/>
            <p14:sldId id="286"/>
            <p14:sldId id="287"/>
          </p14:sldIdLst>
        </p14:section>
        <p14:section name="Paramétrer" id="{0d48f3ad-b2d2-99cf-84ea-1cb741b9289c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de la session : rendre chaque utilisateur autonome sur son rôle (chargé d'affaires, directeur, RSE, comité, risques, audit, administrateur). Durée conseillée : 2 heures, démonstration sur la base de démonstration puis exercice sur un dossier réel.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connexion avec un compte de démonstration (mot de passe Demo!Sges2026). Rappeler que les paramètres de sécurité (tentatives, durée de verrouillage, durée de session) sont réglables par l'administrateur.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tableau de bord présente d'abord ce qui demande une action, puis la lecture du portefeuille (catégories, risque résiduel, décisions des comités, climat).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démonstration, le compte 18278000099999999901 importe la signalétique simulée de la Sucrerie du Gharb.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réalisée avec le paramètre QUESTIONNAIRE_NIVEAU_C positionné sur « minimum » pour illustrer la fonction ; la base livrée reste en « complet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NTERCALAIRE-image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dfbcp/assets/f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17320"/>
            <a:ext cx="12191695" cy="5440680"/>
          </a:xfrm>
          <a:prstGeom prst="rect">
            <a:avLst/>
          </a:prstGeom>
        </p:spPr>
      </p:pic>
      <p:pic>
        <p:nvPicPr>
          <p:cNvPr id="3" name="Image 1" descr="/tmp/claude-0/pdfbcp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4592"/>
            <a:ext cx="2039112" cy="1060704"/>
          </a:xfrm>
          <a:prstGeom prst="rect">
            <a:avLst/>
          </a:prstGeom>
        </p:spPr>
      </p:pic>
      <p:pic>
        <p:nvPicPr>
          <p:cNvPr id="4" name="Image 2" descr="/tmp/claude-0/pdfbcp/assets/moti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691640"/>
            <a:ext cx="1828800" cy="2706624"/>
          </a:xfrm>
          <a:prstGeom prst="rect">
            <a:avLst/>
          </a:prstGeom>
        </p:spPr>
      </p:pic>
      <p:pic>
        <p:nvPicPr>
          <p:cNvPr id="5" name="Image 3" descr="/tmp/claude-0/pdfbcp/assets/motif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4526280"/>
            <a:ext cx="1828800" cy="21031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4" type="title" hasCustomPrompt="1"/>
          </p:nvPr>
        </p:nvSpPr>
        <p:spPr>
          <a:xfrm>
            <a:off x="731520" y="224028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731520" y="443484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dfbcp/assets/logo_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371600" cy="713232"/>
          </a:xfrm>
          <a:prstGeom prst="rect">
            <a:avLst/>
          </a:prstGeom>
        </p:spPr>
      </p:pic>
      <p:pic>
        <p:nvPicPr>
          <p:cNvPr id="3" name="Image 1" descr="/tmp/claude-0/pdfbcp/assets/moti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502920"/>
            <a:ext cx="1920240" cy="28346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dfbcp/assets/bande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11365992" cy="713232"/>
          </a:xfrm>
          <a:prstGeom prst="rect">
            <a:avLst/>
          </a:prstGeom>
        </p:spPr>
      </p:pic>
      <p:pic>
        <p:nvPicPr>
          <p:cNvPr id="3" name="Image 1" descr="/tmp/claude-0/pdfbcp/assets/logo_bla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29184"/>
            <a:ext cx="914400" cy="47548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5" name="Text 0"/>
          <p:cNvSpPr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SGES — Guide de formation des utilisateurs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731520" y="22402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DE FORMATION</a:t>
            </a:r>
            <a:endParaRPr lang="en-US" sz="4000" dirty="0"/>
          </a:p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5" type="body" hasCustomPrompt="1"/>
          </p:nvPr>
        </p:nvSpPr>
        <p:spPr>
          <a:xfrm>
            <a:off x="731520" y="4434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gestion environnementale, sociale et climatique des crédits d'investissement — pas à pas, écran par écran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DE LA FORMATION</a:t>
            </a:r>
            <a:endParaRPr lang="en-US" sz="2400" dirty="0"/>
          </a:p>
        </p:txBody>
      </p:sp>
      <p:sp>
        <p:nvSpPr>
          <p:cNvPr id="3" name="chapitre-01"/>
          <p:cNvSpPr/>
          <p:nvPr/>
        </p:nvSpPr>
        <p:spPr>
          <a:xfrm>
            <a:off x="457200" y="13258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2E8D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7B05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46304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PRISE EN MAIN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Connexion, tableau de bord, liste des dossiers</a:t>
            </a:r>
            <a:endParaRPr lang="en-US" sz="1800" dirty="0"/>
          </a:p>
        </p:txBody>
      </p:sp>
      <p:sp>
        <p:nvSpPr>
          <p:cNvPr id="6" name="chapitre-02"/>
          <p:cNvSpPr/>
          <p:nvPr/>
        </p:nvSpPr>
        <p:spPr>
          <a:xfrm>
            <a:off x="6217920" y="13258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BF6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32588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7B05"/>
                </a:solidFill>
              </a:rPr>
              <a:t>02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46304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ÉVALUER UN DOSSIER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De la création à la fiche E&amp;S : exclusion, catégorie, risques, climat, pièces, plan d'actions</a:t>
            </a:r>
            <a:endParaRPr lang="en-US" sz="1800" dirty="0"/>
          </a:p>
        </p:txBody>
      </p:sp>
      <p:sp>
        <p:nvSpPr>
          <p:cNvPr id="9" name="chapitre-03"/>
          <p:cNvSpPr/>
          <p:nvPr/>
        </p:nvSpPr>
        <p:spPr>
          <a:xfrm>
            <a:off x="457200" y="29718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BF6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97180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7B05"/>
                </a:solidFill>
              </a:rPr>
              <a:t>03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10896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VALIDER ET DÉCIDER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Validation par le directeur, décision du comité</a:t>
            </a:r>
            <a:endParaRPr lang="en-US" sz="1800" dirty="0"/>
          </a:p>
        </p:txBody>
      </p:sp>
      <p:sp>
        <p:nvSpPr>
          <p:cNvPr id="12" name="chapitre-04"/>
          <p:cNvSpPr/>
          <p:nvPr/>
        </p:nvSpPr>
        <p:spPr>
          <a:xfrm>
            <a:off x="6217920" y="29718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2E8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97180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7B05"/>
                </a:solidFill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310896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SUIVRE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Visites, plans d'actions, encours, clôture</a:t>
            </a:r>
            <a:endParaRPr lang="en-US" sz="1800" dirty="0"/>
          </a:p>
        </p:txBody>
      </p:sp>
      <p:sp>
        <p:nvSpPr>
          <p:cNvPr id="15" name="chapitre-05"/>
          <p:cNvSpPr/>
          <p:nvPr/>
        </p:nvSpPr>
        <p:spPr>
          <a:xfrm>
            <a:off x="457200" y="46177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2E8D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61772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7B05"/>
                </a:solidFill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75488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PILOTER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Reporting, risques climatiques du portefeuille, journal d'audit</a:t>
            </a:r>
            <a:endParaRPr lang="en-US" sz="1800" dirty="0"/>
          </a:p>
        </p:txBody>
      </p:sp>
      <p:sp>
        <p:nvSpPr>
          <p:cNvPr id="18" name="chapitre-06"/>
          <p:cNvSpPr/>
          <p:nvPr/>
        </p:nvSpPr>
        <p:spPr>
          <a:xfrm>
            <a:off x="6217920" y="46177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BF6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461772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7B05"/>
                </a:solidFill>
              </a:rPr>
              <a:t>06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475488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PARAMÉTRER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Paramètres, listes, questionnaires et modules d'activité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FAIT QUOI DANS L'OUTIL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3202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211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Rôle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 qu'il fait dans l'outil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B5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620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Chargé d'affaires / analyste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Crée le dossier, renseigne les volets, négocie le plan d'actions avec le client, soumet, saisit la décision, suit les visites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620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Directeur de centre d'affaires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Valide et verrouille le dossier ou le retourne au chargé (motif obligatoire) ; clôture le suivi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620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 RSE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Reclasse une catégorie, accorde une dérogation, impose le questionnaire complet, suit le portefeuille et le climat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620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Comité de crédit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Consulte la fiche E&amp;S et enregistre la décision : accordé, rejeté ou ajourné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620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Risques Groupe / Audit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Consultent les dossiers, le reporting, le climat et le journal d'audit (lecture seule)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620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Administrateur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Gère utilisateurs, rôles, entités, paramètres, listes, questionnaires et intégrations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23560"/>
            <a:ext cx="11320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5B52"/>
                </a:solidFill>
              </a:rPr>
              <a:t>Chacun ne voit que les dossiers de son périmètre (entité et entités rattachées). Le chargé d'un dossier ne peut jamais le valider lui-même.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PRISE EN MAIN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connecter, lire son tableau de bord, retrouver un dossier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CONNECTER</a:t>
            </a:r>
            <a:endParaRPr lang="en-US" sz="2400" dirty="0"/>
          </a:p>
        </p:txBody>
      </p:sp>
      <p:sp>
        <p:nvSpPr>
          <p:cNvPr id="3" name="capture-connexio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connexion.png" descr="capture-connex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Identifiants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Adresse électronique professionnelle et mot de passe personnel.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Premier accès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Le mot de passe provisoire doit être changé à la première connexion.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Langue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Français, anglais ou arabe, au choix en haut à droite ; l'outil s'en souvient.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après 5 essais erronés, le compte est bloqué 15 minutes. Toutes les connexions sont journalisées.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TABLEAU DE BORD</a:t>
            </a:r>
            <a:endParaRPr lang="en-US" sz="2400" dirty="0"/>
          </a:p>
        </p:txBody>
      </p:sp>
      <p:sp>
        <p:nvSpPr>
          <p:cNvPr id="3" name="capture-tableau-de-bord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tableau-de-bord.png" descr="capture-tableau-de-b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Nouvelle évaluation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Toujours accessible en haut du menu.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À traiter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Mes dossiers en cours, à valider, en attente de décision, actions en retard, visites à planifier.</a:t>
            </a:r>
            <a:endParaRPr lang="en-US" sz="1400" dirty="0"/>
          </a:p>
        </p:txBody>
      </p:sp>
      <p:sp>
        <p:nvSpPr>
          <p:cNvPr id="11" name="pastille-3"/>
          <p:cNvSpPr/>
          <p:nvPr/>
        </p:nvSpPr>
        <p:spPr>
          <a:xfrm>
            <a:off x="8366760" y="4072128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4072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Portefeuille évalué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Nombre de dossiers, montants, projets de catégorie A, exclusions.</a:t>
            </a:r>
            <a:endParaRPr lang="en-US" sz="1400" dirty="0"/>
          </a:p>
        </p:txBody>
      </p:sp>
      <p:sp>
        <p:nvSpPr>
          <p:cNvPr id="14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5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chaque tuile est cliquable et ouvre la liste déjà filtrée. Le contenu dépend de votre rôle et de votre périmètre.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UN DOSSIER</a:t>
            </a:r>
            <a:endParaRPr lang="en-US" sz="2400" dirty="0"/>
          </a:p>
        </p:txBody>
      </p:sp>
      <p:sp>
        <p:nvSpPr>
          <p:cNvPr id="3" name="capture-dossiers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dossiers.png" descr="capture-doss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Recherche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Par référence, client ou compte ; filtres par statut, catégorie et niveau de risque.</a:t>
            </a:r>
            <a:endParaRPr lang="en-US" sz="1400" dirty="0"/>
          </a:p>
        </p:txBody>
      </p:sp>
      <p:sp>
        <p:nvSpPr>
          <p:cNvPr id="8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Lecture rapide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Catégorie, risque résiduel, montant et statut sur chaque ligne.</a:t>
            </a:r>
            <a:endParaRPr lang="en-US" sz="1400" dirty="0"/>
          </a:p>
        </p:txBody>
      </p:sp>
      <p:sp>
        <p:nvSpPr>
          <p:cNvPr id="10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Référence unique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Banque, entité, année et numéro : SGES-BCP-CA-CASA-2026-00004.</a:t>
            </a:r>
            <a:endParaRPr lang="en-US" sz="1400" dirty="0"/>
          </a:p>
        </p:txBody>
      </p:sp>
      <p:sp>
        <p:nvSpPr>
          <p:cNvPr id="12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3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un crédit d'investissement = une évaluation E&amp;S distincte, même pour un client déjà connu.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UN DOSSIER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compte courant à la fiche d'évaluation E&amp;S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ÉVALUATION</a:t>
            </a:r>
            <a:endParaRPr lang="en-US" sz="2400" dirty="0"/>
          </a:p>
        </p:txBody>
      </p:sp>
      <p:sp>
        <p:nvSpPr>
          <p:cNvPr id="3" name="capture-nouvelle-evaluatio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nouvelle-evaluation.png" descr="capture-nouvelle-eval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Critères déclencheurs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Rappel : projet de catégorie A, ou investissement au-delà du seuil (10 M MAD).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Compte courant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20 positions ; ou recherche d'un client existant, ou création d'un nouveau client.</a:t>
            </a:r>
            <a:endParaRPr lang="en-US" sz="1400" dirty="0"/>
          </a:p>
        </p:txBody>
      </p:sp>
      <p:sp>
        <p:nvSpPr>
          <p:cNvPr id="11" name="pastille-3"/>
          <p:cNvSpPr/>
          <p:nvPr/>
        </p:nvSpPr>
        <p:spPr>
          <a:xfrm>
            <a:off x="8366760" y="4072128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4072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Importer la signalétique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Raison sociale, forme juridique, secteur et contacts repris du système central.</a:t>
            </a:r>
            <a:endParaRPr lang="en-US" sz="1400" dirty="0"/>
          </a:p>
        </p:txBody>
      </p:sp>
      <p:sp>
        <p:nvSpPr>
          <p:cNvPr id="14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5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le secteur et la ville du client sont repris automatiquement dans le projet ; ils restent modifiables.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DU PROJET</a:t>
            </a:r>
            <a:endParaRPr lang="en-US" sz="2400" dirty="0"/>
          </a:p>
        </p:txBody>
      </p:sp>
      <p:sp>
        <p:nvSpPr>
          <p:cNvPr id="3" name="capture-identification-lieu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identification-lieu.png" descr="capture-identification-lie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Ville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Choisissez une ville proposée dans la liste…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Région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… la région se remplit seule. Elle alimente ensuite les aléas climatiques.</a:t>
            </a:r>
            <a:endParaRPr lang="en-US" sz="1400" dirty="0"/>
          </a:p>
        </p:txBody>
      </p:sp>
      <p:sp>
        <p:nvSpPr>
          <p:cNvPr id="11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Options de financement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Ligne de bailleur, développement durable, Principes de l'Équateur : bloc repliable.</a:t>
            </a:r>
            <a:endParaRPr lang="en-US" sz="1400" dirty="0"/>
          </a:p>
        </p:txBody>
      </p:sp>
      <p:sp>
        <p:nvSpPr>
          <p:cNvPr id="13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4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type de crédit, secteur, montant demandé et région sont obligatoires pour créer le dossier.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L'ESPACE DOSSIER</a:t>
            </a:r>
            <a:endParaRPr lang="en-US" sz="2400" dirty="0"/>
          </a:p>
        </p:txBody>
      </p:sp>
      <p:sp>
        <p:nvSpPr>
          <p:cNvPr id="3" name="capture-dossier-identificatio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dossier-identification.png" descr="capture-dossier-ident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Parcours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Les étapes cochées en vert sont complètes ; cliquez pour naviguer.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Soumettre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Possible seulement quand toutes les conditions sont réunies.</a:t>
            </a:r>
            <a:endParaRPr lang="en-US" sz="1400" dirty="0"/>
          </a:p>
        </p:txBody>
      </p:sp>
      <p:sp>
        <p:nvSpPr>
          <p:cNvPr id="11" name="pastille-3"/>
          <p:cNvSpPr/>
          <p:nvPr/>
        </p:nvSpPr>
        <p:spPr>
          <a:xfrm>
            <a:off x="8366760" y="4072128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4072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Déclenchement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L'outil indique si l'évaluation E&amp;S est obligatoire et pourquoi.</a:t>
            </a:r>
            <a:endParaRPr lang="en-US" sz="1400" dirty="0"/>
          </a:p>
        </p:txBody>
      </p:sp>
      <p:sp>
        <p:nvSpPr>
          <p:cNvPr id="14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5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chaque enregistrement recalcule la catégorie, le risque et le climat ; l'historique garde la trace de tout.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D'EXCLUSION</a:t>
            </a:r>
            <a:endParaRPr lang="en-US" sz="2400" dirty="0"/>
          </a:p>
        </p:txBody>
      </p:sp>
      <p:sp>
        <p:nvSpPr>
          <p:cNvPr id="3" name="capture-exclusio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exclusion.png" descr="capture-excl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Réponse rapide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« Non » à tous les critères en un clic, puis corrigez si besoin.</a:t>
            </a:r>
            <a:endParaRPr lang="en-US" sz="1400" dirty="0"/>
          </a:p>
        </p:txBody>
      </p:sp>
      <p:sp>
        <p:nvSpPr>
          <p:cNvPr id="8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Critère « Oui »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Le projet est exclu : motif obligatoire (motifs types proposés).</a:t>
            </a:r>
            <a:endParaRPr lang="en-US" sz="1400" dirty="0"/>
          </a:p>
        </p:txBody>
      </p:sp>
      <p:sp>
        <p:nvSpPr>
          <p:cNvPr id="10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Dérogation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Seul le Responsable RSE peut déroger, et seulement sur un critère dérogeable.</a:t>
            </a:r>
            <a:endParaRPr lang="en-US" sz="1400" dirty="0"/>
          </a:p>
        </p:txBody>
      </p:sp>
      <p:sp>
        <p:nvSpPr>
          <p:cNvPr id="12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3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une interdiction légale n'est jamais dérogeable ; le RSE est notifié de toute exclusion.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CATÉGORISATION A, B, C, FI</a:t>
            </a:r>
            <a:endParaRPr lang="en-US" sz="2400" dirty="0"/>
          </a:p>
        </p:txBody>
      </p:sp>
      <p:sp>
        <p:nvSpPr>
          <p:cNvPr id="3" name="capture-categorisatio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categorisation.png" descr="capture-categori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25 éléments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Répondez Oui / Non ; la catégorie se calcule en direct.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Gain de temps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« Répondre Non aux éléments sans réponse » complète le formulaire.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Reclassement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Réservé au RSE, avec justification (motifs types) ; il est journalisé.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en catégorie A, l'étude d'impact (EIES) est exigée avant la soumission.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ENVIRONNEMENTAUX ET SOCIAUX</a:t>
            </a:r>
            <a:endParaRPr lang="en-US" sz="2400" dirty="0"/>
          </a:p>
        </p:txBody>
      </p:sp>
      <p:sp>
        <p:nvSpPr>
          <p:cNvPr id="3" name="capture-evaluatio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evaluation.png" descr="capture-eval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Risque résiduel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Score sur 100 et niveau, recalculés à chaque réponse.</a:t>
            </a:r>
            <a:endParaRPr lang="en-US" sz="1400" dirty="0"/>
          </a:p>
        </p:txBody>
      </p:sp>
      <p:sp>
        <p:nvSpPr>
          <p:cNvPr id="8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« Non »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Signale un risque non maîtrisé : une action corrective est proposée.</a:t>
            </a:r>
            <a:endParaRPr lang="en-US" sz="1400" dirty="0"/>
          </a:p>
        </p:txBody>
      </p:sp>
      <p:sp>
        <p:nvSpPr>
          <p:cNvPr id="10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Outils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Filtres, impression du questionnaire pour le client, assistant IA.</a:t>
            </a:r>
            <a:endParaRPr lang="en-US" sz="1400" dirty="0"/>
          </a:p>
        </p:txBody>
      </p:sp>
      <p:sp>
        <p:nvSpPr>
          <p:cNvPr id="12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3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le commentaire d'évaluation est obligatoire ; « Insérer le canevas » propose une trame à compléter.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 ADAPTÉ À L'ACTIVITÉ</a:t>
            </a:r>
            <a:endParaRPr lang="en-US" sz="2400" dirty="0"/>
          </a:p>
        </p:txBody>
      </p:sp>
      <p:sp>
        <p:nvSpPr>
          <p:cNvPr id="3" name="capture-rse-questionnaire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rse-questionnaire.png" descr="capture-rse-questionna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Niveau appliqué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Minimum, standard ou complet, et nombre de questions posées.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Décision RSE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Le Responsable RSE peut imposer le questionnaire complet sur un dossier.</a:t>
            </a:r>
            <a:endParaRPr lang="en-US" sz="1400" dirty="0"/>
          </a:p>
        </p:txBody>
      </p:sp>
      <p:sp>
        <p:nvSpPr>
          <p:cNvPr id="11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Garde-fous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Catégorie A toujours complète ; normes SFI imposées par certaines lignes de bailleurs.</a:t>
            </a:r>
            <a:endParaRPr lang="en-US" sz="1400" dirty="0"/>
          </a:p>
        </p:txBody>
      </p:sp>
      <p:sp>
        <p:nvSpPr>
          <p:cNvPr id="13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4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par défaut, tous les questionnaires sont complets ; l'allègement est un choix de paramétrage validé par la RSE.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VOLET CLIMAT</a:t>
            </a:r>
            <a:endParaRPr lang="en-US" sz="2400" dirty="0"/>
          </a:p>
        </p:txBody>
      </p:sp>
      <p:sp>
        <p:nvSpPr>
          <p:cNvPr id="3" name="capture-climat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climat.png" descr="capture-clim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Score climat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Risque physique et de transition ; couverture des données affichée.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Valeurs de la région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Aléas repris de la région, ajustables au vu du site exact.</a:t>
            </a:r>
            <a:endParaRPr lang="en-US" sz="1400" dirty="0"/>
          </a:p>
        </p:txBody>
      </p:sp>
      <p:sp>
        <p:nvSpPr>
          <p:cNvPr id="11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Échelle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0 à 4, « ? » si inconnu, « NA » si non applicable.</a:t>
            </a:r>
            <a:endParaRPr lang="en-US" sz="1400" dirty="0"/>
          </a:p>
        </p:txBody>
      </p:sp>
      <p:sp>
        <p:nvSpPr>
          <p:cNvPr id="13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4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sous 75 % de données renseignées, aucun score n'est produit : l'outil liste ce qui reste à compléter.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SCÉNARIOS ET ÉMISSIONS FINANCÉES</a:t>
            </a:r>
            <a:endParaRPr lang="en-US" sz="2400" dirty="0"/>
          </a:p>
        </p:txBody>
      </p:sp>
      <p:sp>
        <p:nvSpPr>
          <p:cNvPr id="3" name="capture-climat-scenarios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climat-scenarios.png" descr="capture-climat-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Scénarios 2030 / 2050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Aggravation des aléas physiques et coût carbone selon trois scénarios NGFS.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CBAM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Effet du mécanisme carbone européen pour les exportateurs concernés.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Émissions financées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Méthode PCAF, qualité des données 1 à 5, base d'attribution datée.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méthode indicative : elle éclaire la décision, elle ne remplace pas l'analyse de crédit.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PIÈCES ET CHECK-LIST</a:t>
            </a:r>
            <a:endParaRPr lang="en-US" sz="2400" dirty="0"/>
          </a:p>
        </p:txBody>
      </p:sp>
      <p:sp>
        <p:nvSpPr>
          <p:cNvPr id="3" name="capture-pieces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pieces.png" descr="capture-pie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Check-list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Pièces attendues selon la catégorie : complète, incomplète ou manquante.</a:t>
            </a:r>
            <a:endParaRPr lang="en-US" sz="1400" dirty="0"/>
          </a:p>
        </p:txBody>
      </p:sp>
      <p:sp>
        <p:nvSpPr>
          <p:cNvPr id="8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Informations manquantes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Précisées pièce par pièce (avec l'assistant IA lorsqu'il est activé).</a:t>
            </a:r>
            <a:endParaRPr lang="en-US" sz="1400" dirty="0"/>
          </a:p>
        </p:txBody>
      </p:sp>
      <p:sp>
        <p:nvSpPr>
          <p:cNvPr id="10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Canevas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Sans la pièce, un canevas à remplir avec le client est proposé.</a:t>
            </a:r>
            <a:endParaRPr lang="en-US" sz="1400" dirty="0"/>
          </a:p>
        </p:txBody>
      </p:sp>
      <p:sp>
        <p:nvSpPr>
          <p:cNvPr id="12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3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les pièces officielles (autorisations, décision d'acceptabilité) ne peuvent pas être remplacées par un canevas.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D'ACTIONS CORRECTIVES</a:t>
            </a:r>
            <a:endParaRPr lang="en-US" sz="2400" dirty="0"/>
          </a:p>
        </p:txBody>
      </p:sp>
      <p:sp>
        <p:nvSpPr>
          <p:cNvPr id="3" name="capture-pla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plan.png" descr="capture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Ajouter une action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En plus des actions générées automatiquement par les réponses « Non ».</a:t>
            </a:r>
            <a:endParaRPr lang="en-US" sz="1400" dirty="0"/>
          </a:p>
        </p:txBody>
      </p:sp>
      <p:sp>
        <p:nvSpPr>
          <p:cNvPr id="8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Négociation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Retenue ou non, responsable, échéance, budget ; réserve du client.</a:t>
            </a:r>
            <a:endParaRPr lang="en-US" sz="1400" dirty="0"/>
          </a:p>
        </p:txBody>
      </p:sp>
      <p:sp>
        <p:nvSpPr>
          <p:cNvPr id="10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Suivi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Avancement et commentaires après la décision du comité.</a:t>
            </a:r>
            <a:endParaRPr lang="en-US" sz="1400" dirty="0"/>
          </a:p>
        </p:txBody>
      </p:sp>
      <p:sp>
        <p:nvSpPr>
          <p:cNvPr id="12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3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le responsable propose des fonctions types (direction générale, HSE…) ; la saisie libre reste possible.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D'ÉVALUATION E&amp;S</a:t>
            </a:r>
            <a:endParaRPr lang="en-US" sz="2400" dirty="0"/>
          </a:p>
        </p:txBody>
      </p:sp>
      <p:sp>
        <p:nvSpPr>
          <p:cNvPr id="3" name="capture-fiche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fiche.png" descr="capture-fic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Synthèse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Banque, client, projet, conclusions, risques par thématique, climat, plan d'actions.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Formats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Impression PDF et JSON, transmis à la plateforme d'octroi par API.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Soumission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Bouton « Soumettre à validation » une fois tous les volets complets.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à la soumission, l'évaluation est figée et une empreinte du dossier est conservée.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CLAUSES E&amp;S DU CONTRAT</a:t>
            </a:r>
            <a:endParaRPr lang="en-US" sz="2400" dirty="0"/>
          </a:p>
        </p:txBody>
      </p:sp>
      <p:sp>
        <p:nvSpPr>
          <p:cNvPr id="3" name="capture-fiche-clauses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fiche-clauses.png" descr="capture-fiche-clau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Proposées automatiquement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Conditions préalables, engagements, obligations d'information, cas de défaut.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Selon le dossier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Catégorie, pièces, plan d'actions, réserves du comité, climat, ligne de bailleur.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Validation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À relire par la direction juridique avant insertion au contrat.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les clauses suivent la langue de l'utilisateur (français, anglais, arabe).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ET DÉCIDER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directeur valide, le comité décide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PAR LE DIRECTEUR</a:t>
            </a:r>
            <a:endParaRPr lang="en-US" sz="2400" dirty="0"/>
          </a:p>
        </p:txBody>
      </p:sp>
      <p:sp>
        <p:nvSpPr>
          <p:cNvPr id="3" name="capture-validatio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validation.png" descr="capture-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Valider et verrouiller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Le dossier part au comité ; plus aucune modification.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Retourner au chargé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Avec un motif obligatoire ; le chargé est notifié.</a:t>
            </a:r>
            <a:endParaRPr lang="en-US" sz="1400" dirty="0"/>
          </a:p>
        </p:txBody>
      </p:sp>
      <p:sp>
        <p:nvSpPr>
          <p:cNvPr id="11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Séparation des fonctions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Le chargé ou le créateur du dossier ne peut pas le valider.</a:t>
            </a:r>
            <a:endParaRPr lang="en-US" sz="1400" dirty="0"/>
          </a:p>
        </p:txBody>
      </p:sp>
      <p:sp>
        <p:nvSpPr>
          <p:cNvPr id="13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4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chaque validation crée un instantané horodaté du dossier, consultable par l'audit.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DU COMITÉ</a:t>
            </a:r>
            <a:endParaRPr lang="en-US" sz="2400" dirty="0"/>
          </a:p>
        </p:txBody>
      </p:sp>
      <p:sp>
        <p:nvSpPr>
          <p:cNvPr id="3" name="capture-decisio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decision.png" descr="capture-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Comité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Centre d'affaires, BPR, BCP ou comité groupe (liste paramétrable).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Date du comité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Obligatoire ; reprise dans la fiche E&amp;S et l'historique.</a:t>
            </a:r>
            <a:endParaRPr lang="en-US" sz="1400" dirty="0"/>
          </a:p>
        </p:txBody>
      </p:sp>
      <p:sp>
        <p:nvSpPr>
          <p:cNvPr id="11" name="pastille-3"/>
          <p:cNvSpPr/>
          <p:nvPr/>
        </p:nvSpPr>
        <p:spPr>
          <a:xfrm>
            <a:off x="8366760" y="4072128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4072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Décision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Accordé (montant, réserves types), rejeté (motif E&amp;S) ou ajourné (retour en évaluation).</a:t>
            </a:r>
            <a:endParaRPr lang="en-US" sz="1400" dirty="0"/>
          </a:p>
        </p:txBody>
      </p:sp>
      <p:sp>
        <p:nvSpPr>
          <p:cNvPr id="14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5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un dossier ajourné revient en évaluation ; un dossier rejeté peut être clôturé puis rouvert avec motif.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l'accord : visites, actions, encours et clôture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ET VISITES DE SITE</a:t>
            </a:r>
            <a:endParaRPr lang="en-US" sz="2400" dirty="0"/>
          </a:p>
        </p:txBody>
      </p:sp>
      <p:sp>
        <p:nvSpPr>
          <p:cNvPr id="3" name="capture-suivi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suivi.png" descr="capture-sui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Nouvelle visite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Date, type, participants, constats et recommandations types, conformité.</a:t>
            </a:r>
            <a:endParaRPr lang="en-US" sz="1400" dirty="0"/>
          </a:p>
        </p:txBody>
      </p:sp>
      <p:sp>
        <p:nvSpPr>
          <p:cNvPr id="8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Encours à date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Sert au calcul des émissions financées (PCAF).</a:t>
            </a:r>
            <a:endParaRPr lang="en-US" sz="1400" dirty="0"/>
          </a:p>
        </p:txBody>
      </p:sp>
      <p:sp>
        <p:nvSpPr>
          <p:cNvPr id="10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Clôture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Par le directeur ; réouverture possible avec motif.</a:t>
            </a:r>
            <a:endParaRPr lang="en-US" sz="1400" dirty="0"/>
          </a:p>
        </p:txBody>
      </p:sp>
      <p:sp>
        <p:nvSpPr>
          <p:cNvPr id="12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3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constats et recommandations types s'insèrent en un clic ; les visites à planifier remontent dans le tableau de bord.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D'ACTIONS DU PORTEFEUILLE</a:t>
            </a:r>
            <a:endParaRPr lang="en-US" sz="2400" dirty="0"/>
          </a:p>
        </p:txBody>
      </p:sp>
      <p:sp>
        <p:nvSpPr>
          <p:cNvPr id="3" name="capture-plans-actions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plans-actions.png" descr="capture-plans-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Vue transversale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Toutes les actions retenues, par client, échéance et statut.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Retards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Signalés en rouge et repris dans le tableau de bord.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Filtres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Par statut et actions en retard ; accès direct au dossier.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l'avancement se met à jour dans l'onglet « Plan d'actions » du dossier, après la décision du comité.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DU DOSSIER</a:t>
            </a:r>
            <a:endParaRPr lang="en-US" sz="2400" dirty="0"/>
          </a:p>
        </p:txBody>
      </p:sp>
      <p:sp>
        <p:nvSpPr>
          <p:cNvPr id="3" name="capture-historique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historique.png" descr="capture-histor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Chronologie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Création, changements de statut, reclassements, décisions, avec auteur et date.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Motifs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Retours, annulations et réouvertures affichent leur motif.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Inaltérable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L'historique ne peut pas être modifié depuis l'outil.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l'historique répond aux questions de l'audit : qui a fait quoi, quand et pourquoi.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Reporting, climat du portefeuille, audit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SGES</a:t>
            </a:r>
            <a:endParaRPr lang="en-US" sz="2400" dirty="0"/>
          </a:p>
        </p:txBody>
      </p:sp>
      <p:sp>
        <p:nvSpPr>
          <p:cNvPr id="3" name="capture-reporting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reporting.png" descr="capture-repor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Export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Excel complet ou CSV, selon vos droits.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Période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Dates libres ou périodes prédéfinies (mois, trimestre, année).</a:t>
            </a:r>
            <a:endParaRPr lang="en-US" sz="1400" dirty="0"/>
          </a:p>
        </p:txBody>
      </p:sp>
      <p:sp>
        <p:nvSpPr>
          <p:cNvPr id="11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Indicateurs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Dossiers, montants, catégories, risques, décisions, par entité.</a:t>
            </a:r>
            <a:endParaRPr lang="en-US" sz="1400" dirty="0"/>
          </a:p>
        </p:txBody>
      </p:sp>
      <p:sp>
        <p:nvSpPr>
          <p:cNvPr id="13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4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les montants sont présentés en devise de référence, au cours figé à la date de chaque dossier.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CLIMATIQUES DU PORTEFEUILLE</a:t>
            </a:r>
            <a:endParaRPr lang="en-US" sz="2400" dirty="0"/>
          </a:p>
        </p:txBody>
      </p:sp>
      <p:sp>
        <p:nvSpPr>
          <p:cNvPr id="3" name="capture-climat-portefeuille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climat-portefeuille.png" descr="capture-climat-portefeui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Synthèse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Dossiers évalués, émissions financées, intensité carbone, part verte.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Exposition physique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Par région, aléa par aléa.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Reporting BAM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Export Excel par dossier, région, secteur et ligne de financement.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ce reporting répond à la directive Bank Al-Maghrib n° 5/W/2021 sur les risques climatiques.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D'AUDIT</a:t>
            </a:r>
            <a:endParaRPr lang="en-US" sz="2400" dirty="0"/>
          </a:p>
        </p:txBody>
      </p:sp>
      <p:sp>
        <p:nvSpPr>
          <p:cNvPr id="3" name="capture-audit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audit.png" descr="capture-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Tout est tracé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Connexions, paramétrage, transitions, décisions, dérogations.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Recherche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Recherche libre dans tout le journal, avec le détail de chaque opération.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Accès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Réservé à l'audit, aux risques, à la RSE et à l'administrateur.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les opérations critiques et leur trace d'audit sont enregistrées ensemble : l'une ne va pas sans l'autre.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PARAMÉTRER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l'outil sans développement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L'ESPACE DE PARAMÉTRAGE</a:t>
            </a:r>
            <a:endParaRPr lang="en-US" sz="2400" dirty="0"/>
          </a:p>
        </p:txBody>
      </p:sp>
      <p:sp>
        <p:nvSpPr>
          <p:cNvPr id="3" name="capture-admin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admin.png" descr="capture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Règles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Paramètres, questionnaires, modules, exclusion, catégorisation, secteurs, régions, listes.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Organisation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Entités, utilisateurs, rôles et permissions, devises, langues.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Intégration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Clés d'API pour la plateforme d'octroi, état de la base.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toute modification est journalisée ; l'habillage (couleur, logo) se règle aussi ici.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NIVEAUX DE QUESTIONNAIRE</a:t>
            </a:r>
            <a:endParaRPr lang="en-US" sz="2400" dirty="0"/>
          </a:p>
        </p:txBody>
      </p:sp>
      <p:sp>
        <p:nvSpPr>
          <p:cNvPr id="3" name="capture-admin-parametres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admin-parametres.png" descr="capture-admin-paramet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8366760" y="1225296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Catégorie B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Minimum, standard ou complet.</a:t>
            </a:r>
            <a:endParaRPr lang="en-US" sz="1400" dirty="0"/>
          </a:p>
        </p:txBody>
      </p:sp>
      <p:sp>
        <p:nvSpPr>
          <p:cNvPr id="8" name="pastille-2"/>
          <p:cNvSpPr/>
          <p:nvPr/>
        </p:nvSpPr>
        <p:spPr>
          <a:xfrm>
            <a:off x="8366760" y="2648712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648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Catégorie C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Même choix ; les catégories A et FI restent complètes.</a:t>
            </a:r>
            <a:endParaRPr lang="en-US" sz="1400" dirty="0"/>
          </a:p>
        </p:txBody>
      </p:sp>
      <p:sp>
        <p:nvSpPr>
          <p:cNvPr id="11" name="pastille-3"/>
          <p:cNvSpPr/>
          <p:nvPr/>
        </p:nvSpPr>
        <p:spPr>
          <a:xfrm>
            <a:off x="8366760" y="4072128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4072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Lignes de bailleurs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Celles qui imposent les normes SFI (au moins « standard »).</a:t>
            </a:r>
            <a:endParaRPr lang="en-US" sz="1400" dirty="0"/>
          </a:p>
        </p:txBody>
      </p:sp>
      <p:sp>
        <p:nvSpPr>
          <p:cNvPr id="14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5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à modifier seulement après validation du marquage des questions par la RSE et la Conformité.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D'ACTIVITÉ</a:t>
            </a:r>
            <a:endParaRPr lang="en-US" sz="2400" dirty="0"/>
          </a:p>
        </p:txBody>
      </p:sp>
      <p:sp>
        <p:nvSpPr>
          <p:cNvPr id="3" name="capture-admin-modules.png-cadre"/>
          <p:cNvSpPr/>
          <p:nvPr/>
        </p:nvSpPr>
        <p:spPr>
          <a:xfrm>
            <a:off x="420624" y="1170432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admin-modules.png" descr="capture-admin-mo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589520" cy="4269334"/>
          </a:xfrm>
          <a:prstGeom prst="rect">
            <a:avLst/>
          </a:prstGeom>
        </p:spPr>
      </p:pic>
      <p:sp>
        <p:nvSpPr>
          <p:cNvPr id="5" name="puce-0"/>
          <p:cNvSpPr/>
          <p:nvPr/>
        </p:nvSpPr>
        <p:spPr>
          <a:xfrm>
            <a:off x="8476488" y="1325880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96528" y="1207008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Déclencheurs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Secteurs, types de zone, natures de projet, effectif, stress hydrique, Principes de l'Équateur.</a:t>
            </a:r>
            <a:endParaRPr lang="en-US" sz="1400" dirty="0"/>
          </a:p>
        </p:txBody>
      </p:sp>
      <p:sp>
        <p:nvSpPr>
          <p:cNvPr id="7" name="puce-1"/>
          <p:cNvSpPr/>
          <p:nvPr/>
        </p:nvSpPr>
        <p:spPr>
          <a:xfrm>
            <a:off x="8476488" y="2749296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630424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Choix multiples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Sélection dans les référentiels, sans code à saisir.</a:t>
            </a:r>
            <a:endParaRPr lang="en-US" sz="1400" dirty="0"/>
          </a:p>
        </p:txBody>
      </p:sp>
      <p:sp>
        <p:nvSpPr>
          <p:cNvPr id="9" name="puce-2"/>
          <p:cNvSpPr/>
          <p:nvPr/>
        </p:nvSpPr>
        <p:spPr>
          <a:xfrm>
            <a:off x="8476488" y="4172712"/>
            <a:ext cx="118872" cy="118872"/>
          </a:xfrm>
          <a:prstGeom prst="ellipse">
            <a:avLst/>
          </a:prstGeom>
          <a:solidFill>
            <a:srgbClr val="E37B0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4053840"/>
            <a:ext cx="2971800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2016"/>
                </a:solidFill>
              </a:rPr>
              <a:t>Prudence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3D3B"/>
                </a:solidFill>
              </a:rPr>
              <a:t>Si une donnée est inconnue, les questions du module sont posées.</a:t>
            </a:r>
            <a:endParaRPr lang="en-US" sz="1400" dirty="0"/>
          </a:p>
        </p:txBody>
      </p:sp>
      <p:sp>
        <p:nvSpPr>
          <p:cNvPr id="11" name="a-retenir"/>
          <p:cNvSpPr/>
          <p:nvPr/>
        </p:nvSpPr>
        <p:spPr>
          <a:xfrm>
            <a:off x="457200" y="5669280"/>
            <a:ext cx="11320272" cy="640080"/>
          </a:xfrm>
          <a:prstGeom prst="roundRect">
            <a:avLst>
              <a:gd name="adj" fmla="val 11429"/>
            </a:avLst>
          </a:prstGeom>
          <a:solidFill>
            <a:srgbClr val="F2E8DB"/>
          </a:solidFill>
          <a:ln/>
        </p:spPr>
      </p:sp>
      <p:pic>
        <p:nvPicPr>
          <p:cNvPr id="12" name="icone-reteni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806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rgbClr val="462016"/>
                </a:solidFill>
              </a:rPr>
              <a:t>les listes de valeurs (villes, réserves types, constats types…) se gèrent de la même façon, en trois langues.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TERRAIN ET BONNES PRATIQUES</a:t>
            </a:r>
            <a:endParaRPr lang="en-US" sz="2400" dirty="0"/>
          </a:p>
        </p:txBody>
      </p:sp>
      <p:sp>
        <p:nvSpPr>
          <p:cNvPr id="3" name="cadre-mobile"/>
          <p:cNvSpPr/>
          <p:nvPr/>
        </p:nvSpPr>
        <p:spPr>
          <a:xfrm>
            <a:off x="877824" y="1243584"/>
            <a:ext cx="2441448" cy="5102352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apture-mobile" descr="/tmp/claude-0/-home-user-SGES-Cl/04c47b58-2f7b-528d-994c-9870786d3415/scratchpad/guide/bcp/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280160"/>
            <a:ext cx="2368296" cy="5029200"/>
          </a:xfrm>
          <a:prstGeom prst="rect">
            <a:avLst/>
          </a:prstGeom>
        </p:spPr>
      </p:pic>
      <p:sp>
        <p:nvSpPr>
          <p:cNvPr id="5" name="pastille-1"/>
          <p:cNvSpPr/>
          <p:nvPr/>
        </p:nvSpPr>
        <p:spPr>
          <a:xfrm>
            <a:off x="4023360" y="1325880"/>
            <a:ext cx="384048" cy="384048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023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2801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Sur téléphone ou tablette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D3D3B"/>
                </a:solidFill>
              </a:rPr>
              <a:t>Tableau de bord, dossiers, visites et pièces s'utilisent en visite de site.</a:t>
            </a:r>
            <a:endParaRPr lang="en-US" sz="1500" dirty="0"/>
          </a:p>
        </p:txBody>
      </p:sp>
      <p:sp>
        <p:nvSpPr>
          <p:cNvPr id="8" name="pastille-2"/>
          <p:cNvSpPr/>
          <p:nvPr/>
        </p:nvSpPr>
        <p:spPr>
          <a:xfrm>
            <a:off x="4023360" y="2331720"/>
            <a:ext cx="384048" cy="384048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233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2860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Enregistrer souvent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D3D3B"/>
                </a:solidFill>
              </a:rPr>
              <a:t>Chaque volet s'enregistre séparément ; un avertissement signale les modifications non enregistrées.</a:t>
            </a:r>
            <a:endParaRPr lang="en-US" sz="1500" dirty="0"/>
          </a:p>
        </p:txBody>
      </p:sp>
      <p:sp>
        <p:nvSpPr>
          <p:cNvPr id="11" name="pastille-3"/>
          <p:cNvSpPr/>
          <p:nvPr/>
        </p:nvSpPr>
        <p:spPr>
          <a:xfrm>
            <a:off x="4023360" y="3337560"/>
            <a:ext cx="384048" cy="384048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2336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2918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Justifier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D3D3B"/>
                </a:solidFill>
              </a:rPr>
              <a:t>Commentaires, motifs et réserves sont relus par le directeur, le comité et l'audit.</a:t>
            </a:r>
            <a:endParaRPr lang="en-US" sz="1500" dirty="0"/>
          </a:p>
        </p:txBody>
      </p:sp>
      <p:sp>
        <p:nvSpPr>
          <p:cNvPr id="14" name="pastille-4"/>
          <p:cNvSpPr/>
          <p:nvPr/>
        </p:nvSpPr>
        <p:spPr>
          <a:xfrm>
            <a:off x="4023360" y="4343400"/>
            <a:ext cx="384048" cy="384048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2336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42976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Pièces d'abord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D3D3B"/>
                </a:solidFill>
              </a:rPr>
              <a:t>Déposer EIES, PGES et autorisations tôt : la check-list guide la collecte auprès du client.</a:t>
            </a:r>
            <a:endParaRPr lang="en-US" sz="1500" dirty="0"/>
          </a:p>
        </p:txBody>
      </p:sp>
      <p:sp>
        <p:nvSpPr>
          <p:cNvPr id="17" name="pastille-5"/>
          <p:cNvSpPr/>
          <p:nvPr/>
        </p:nvSpPr>
        <p:spPr>
          <a:xfrm>
            <a:off x="4023360" y="5349240"/>
            <a:ext cx="384048" cy="384048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336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53035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Besoin d'aide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D3D3B"/>
                </a:solidFill>
              </a:rPr>
              <a:t>Écran « Cadre réglementaire » pour les textes de référence ; votre administrateur SGES pour les accès.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0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DE JOUER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: créer une évaluation sur la base de démonstration, la mener jusqu'à la soumission, puis la faire valider par un directeur.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e BCP">
  <a:themeElements>
    <a:clrScheme name="Groupe BCP">
      <a:dk1>
        <a:srgbClr val="3D3D3B"/>
      </a:dk1>
      <a:lt1>
        <a:srgbClr val="FFFFFF"/>
      </a:lt1>
      <a:dk2>
        <a:srgbClr val="462016"/>
      </a:dk2>
      <a:lt2>
        <a:srgbClr val="F2E8DB"/>
      </a:lt2>
      <a:accent1>
        <a:srgbClr val="E37B05"/>
      </a:accent1>
      <a:accent2>
        <a:srgbClr val="ED6D19"/>
      </a:accent2>
      <a:accent3>
        <a:srgbClr val="E12E16"/>
      </a:accent3>
      <a:accent4>
        <a:srgbClr val="8C5B52"/>
      </a:accent4>
      <a:accent5>
        <a:srgbClr val="C9560C"/>
      </a:accent5>
      <a:accent6>
        <a:srgbClr val="B3B2B2"/>
      </a:accent6>
      <a:hlink>
        <a:srgbClr val="C9560C"/>
      </a:hlink>
      <a:folHlink>
        <a:srgbClr val="8C5B52"/>
      </a:folHlink>
    </a:clrScheme>
    <a:fontScheme name="Groupe BC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SGES — Guide de formation</dc:title>
  <dc:subject>PptxGenJS Presentation</dc:subject>
  <dc:creator>Projet SGES</dc:creator>
  <cp:lastModifiedBy>Projet SGES</cp:lastModifiedBy>
  <cp:revision>1</cp:revision>
  <dcterms:created xsi:type="dcterms:W3CDTF">2026-10-26T16:52:26Z</dcterms:created>
  <dcterms:modified xsi:type="dcterms:W3CDTF">2026-10-26T16:52:26Z</dcterms:modified>
</cp:coreProperties>
</file>